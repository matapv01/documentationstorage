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9" r:id="rId5"/>
    <p:sldId id="258" r:id="rId6"/>
    <p:sldId id="262" r:id="rId7"/>
    <p:sldId id="264" r:id="rId8"/>
    <p:sldId id="267" r:id="rId9"/>
    <p:sldId id="261" r:id="rId10"/>
    <p:sldId id="271" r:id="rId11"/>
    <p:sldId id="272" r:id="rId12"/>
    <p:sldId id="274" r:id="rId13"/>
    <p:sldId id="273" r:id="rId14"/>
    <p:sldId id="289" r:id="rId15"/>
    <p:sldId id="278" r:id="rId16"/>
    <p:sldId id="275" r:id="rId17"/>
    <p:sldId id="286" r:id="rId18"/>
    <p:sldId id="285" r:id="rId19"/>
    <p:sldId id="277" r:id="rId20"/>
    <p:sldId id="280" r:id="rId21"/>
    <p:sldId id="281" r:id="rId22"/>
    <p:sldId id="282" r:id="rId23"/>
    <p:sldId id="283" r:id="rId24"/>
    <p:sldId id="284" r:id="rId25"/>
    <p:sldId id="287" r:id="rId26"/>
    <p:sldId id="290" r:id="rId27"/>
    <p:sldId id="292" r:id="rId28"/>
    <p:sldId id="298" r:id="rId29"/>
    <p:sldId id="299" r:id="rId30"/>
    <p:sldId id="300" r:id="rId31"/>
    <p:sldId id="307" r:id="rId32"/>
    <p:sldId id="291" r:id="rId33"/>
    <p:sldId id="305" r:id="rId34"/>
    <p:sldId id="304" r:id="rId35"/>
    <p:sldId id="303" r:id="rId36"/>
    <p:sldId id="302" r:id="rId37"/>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A97670-AE4B-498C-8914-0753BF63AD51}" v="84" dt="2025-10-01T08:23:18.8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5" autoAdjust="0"/>
    <p:restoredTop sz="94660"/>
  </p:normalViewPr>
  <p:slideViewPr>
    <p:cSldViewPr snapToGrid="0">
      <p:cViewPr varScale="1">
        <p:scale>
          <a:sx n="79" d="100"/>
          <a:sy n="79" d="100"/>
        </p:scale>
        <p:origin x="73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800CB-2506-AB80-7587-2AFCCEFC87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12A9DF22-218B-2277-5F1B-5548A29295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EABBB4B9-69F5-09F6-8477-C35B7ADCFB23}"/>
              </a:ext>
            </a:extLst>
          </p:cNvPr>
          <p:cNvSpPr>
            <a:spLocks noGrp="1"/>
          </p:cNvSpPr>
          <p:nvPr>
            <p:ph type="dt" sz="half" idx="10"/>
          </p:nvPr>
        </p:nvSpPr>
        <p:spPr/>
        <p:txBody>
          <a:bodyPr/>
          <a:lstStyle/>
          <a:p>
            <a:fld id="{BE33EF6D-A359-4082-8099-CD7BBD8544CC}" type="datetimeFigureOut">
              <a:rPr lang="vi-VN" smtClean="0"/>
              <a:t>15/10/2025</a:t>
            </a:fld>
            <a:endParaRPr lang="vi-VN"/>
          </a:p>
        </p:txBody>
      </p:sp>
      <p:sp>
        <p:nvSpPr>
          <p:cNvPr id="5" name="Footer Placeholder 4">
            <a:extLst>
              <a:ext uri="{FF2B5EF4-FFF2-40B4-BE49-F238E27FC236}">
                <a16:creationId xmlns:a16="http://schemas.microsoft.com/office/drawing/2014/main" id="{5189C99F-A711-97F0-ACBB-CE42B3826DA2}"/>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60C67A52-D13D-A692-4093-61B28AB456FA}"/>
              </a:ext>
            </a:extLst>
          </p:cNvPr>
          <p:cNvSpPr>
            <a:spLocks noGrp="1"/>
          </p:cNvSpPr>
          <p:nvPr>
            <p:ph type="sldNum" sz="quarter" idx="12"/>
          </p:nvPr>
        </p:nvSpPr>
        <p:spPr/>
        <p:txBody>
          <a:bodyPr/>
          <a:lstStyle/>
          <a:p>
            <a:fld id="{8B25B77A-3ABF-491A-8FCD-DE4CFDF4A8AB}" type="slidenum">
              <a:rPr lang="vi-VN" smtClean="0"/>
              <a:t>‹#›</a:t>
            </a:fld>
            <a:endParaRPr lang="vi-VN"/>
          </a:p>
        </p:txBody>
      </p:sp>
    </p:spTree>
    <p:extLst>
      <p:ext uri="{BB962C8B-B14F-4D97-AF65-F5344CB8AC3E}">
        <p14:creationId xmlns:p14="http://schemas.microsoft.com/office/powerpoint/2010/main" val="2725574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0250-EB7C-6D08-779C-970F48BA7D16}"/>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4A534994-E7E5-70EB-8E2B-6FFC821F44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98CF109D-1DF9-4317-493E-01B223963E23}"/>
              </a:ext>
            </a:extLst>
          </p:cNvPr>
          <p:cNvSpPr>
            <a:spLocks noGrp="1"/>
          </p:cNvSpPr>
          <p:nvPr>
            <p:ph type="dt" sz="half" idx="10"/>
          </p:nvPr>
        </p:nvSpPr>
        <p:spPr/>
        <p:txBody>
          <a:bodyPr/>
          <a:lstStyle/>
          <a:p>
            <a:fld id="{BE33EF6D-A359-4082-8099-CD7BBD8544CC}" type="datetimeFigureOut">
              <a:rPr lang="vi-VN" smtClean="0"/>
              <a:t>15/10/2025</a:t>
            </a:fld>
            <a:endParaRPr lang="vi-VN"/>
          </a:p>
        </p:txBody>
      </p:sp>
      <p:sp>
        <p:nvSpPr>
          <p:cNvPr id="5" name="Footer Placeholder 4">
            <a:extLst>
              <a:ext uri="{FF2B5EF4-FFF2-40B4-BE49-F238E27FC236}">
                <a16:creationId xmlns:a16="http://schemas.microsoft.com/office/drawing/2014/main" id="{9C4D5AD3-7A1A-11B4-14A6-1ABBF47A33D4}"/>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5048B018-5C4F-7AE4-28FE-0F184C0D3416}"/>
              </a:ext>
            </a:extLst>
          </p:cNvPr>
          <p:cNvSpPr>
            <a:spLocks noGrp="1"/>
          </p:cNvSpPr>
          <p:nvPr>
            <p:ph type="sldNum" sz="quarter" idx="12"/>
          </p:nvPr>
        </p:nvSpPr>
        <p:spPr/>
        <p:txBody>
          <a:bodyPr/>
          <a:lstStyle/>
          <a:p>
            <a:fld id="{8B25B77A-3ABF-491A-8FCD-DE4CFDF4A8AB}" type="slidenum">
              <a:rPr lang="vi-VN" smtClean="0"/>
              <a:t>‹#›</a:t>
            </a:fld>
            <a:endParaRPr lang="vi-VN"/>
          </a:p>
        </p:txBody>
      </p:sp>
    </p:spTree>
    <p:extLst>
      <p:ext uri="{BB962C8B-B14F-4D97-AF65-F5344CB8AC3E}">
        <p14:creationId xmlns:p14="http://schemas.microsoft.com/office/powerpoint/2010/main" val="1505048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95FDB-0560-0322-DE9B-33B4FFB35B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02AE4254-5591-C0F7-6A5D-3BCFDB28A0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2135AA-DF70-1C3D-9F6D-D4F8958CD4D7}"/>
              </a:ext>
            </a:extLst>
          </p:cNvPr>
          <p:cNvSpPr>
            <a:spLocks noGrp="1"/>
          </p:cNvSpPr>
          <p:nvPr>
            <p:ph type="dt" sz="half" idx="10"/>
          </p:nvPr>
        </p:nvSpPr>
        <p:spPr/>
        <p:txBody>
          <a:bodyPr/>
          <a:lstStyle/>
          <a:p>
            <a:fld id="{BE33EF6D-A359-4082-8099-CD7BBD8544CC}" type="datetimeFigureOut">
              <a:rPr lang="vi-VN" smtClean="0"/>
              <a:t>15/10/2025</a:t>
            </a:fld>
            <a:endParaRPr lang="vi-VN"/>
          </a:p>
        </p:txBody>
      </p:sp>
      <p:sp>
        <p:nvSpPr>
          <p:cNvPr id="5" name="Footer Placeholder 4">
            <a:extLst>
              <a:ext uri="{FF2B5EF4-FFF2-40B4-BE49-F238E27FC236}">
                <a16:creationId xmlns:a16="http://schemas.microsoft.com/office/drawing/2014/main" id="{2D025D7B-DDE4-2016-1778-75F0AA826162}"/>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A5FB341A-76AA-EC9E-5B55-3803D73241C0}"/>
              </a:ext>
            </a:extLst>
          </p:cNvPr>
          <p:cNvSpPr>
            <a:spLocks noGrp="1"/>
          </p:cNvSpPr>
          <p:nvPr>
            <p:ph type="sldNum" sz="quarter" idx="12"/>
          </p:nvPr>
        </p:nvSpPr>
        <p:spPr/>
        <p:txBody>
          <a:bodyPr/>
          <a:lstStyle/>
          <a:p>
            <a:fld id="{8B25B77A-3ABF-491A-8FCD-DE4CFDF4A8AB}" type="slidenum">
              <a:rPr lang="vi-VN" smtClean="0"/>
              <a:t>‹#›</a:t>
            </a:fld>
            <a:endParaRPr lang="vi-VN"/>
          </a:p>
        </p:txBody>
      </p:sp>
    </p:spTree>
    <p:extLst>
      <p:ext uri="{BB962C8B-B14F-4D97-AF65-F5344CB8AC3E}">
        <p14:creationId xmlns:p14="http://schemas.microsoft.com/office/powerpoint/2010/main" val="3305754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B5D6A-6E42-C6BF-671D-3AD6C1F9CB60}"/>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5E9A669A-0CC6-9F46-5002-500F0841D1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A2F138DE-A8C5-EA4D-9AC9-69A5E9F00D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07964907-7F34-BC87-CCA9-0A74E1FBE00B}"/>
              </a:ext>
            </a:extLst>
          </p:cNvPr>
          <p:cNvSpPr>
            <a:spLocks noGrp="1"/>
          </p:cNvSpPr>
          <p:nvPr>
            <p:ph type="dt" sz="half" idx="10"/>
          </p:nvPr>
        </p:nvSpPr>
        <p:spPr/>
        <p:txBody>
          <a:bodyPr/>
          <a:lstStyle/>
          <a:p>
            <a:fld id="{BE33EF6D-A359-4082-8099-CD7BBD8544CC}" type="datetimeFigureOut">
              <a:rPr lang="vi-VN" smtClean="0"/>
              <a:t>15/10/2025</a:t>
            </a:fld>
            <a:endParaRPr lang="vi-VN"/>
          </a:p>
        </p:txBody>
      </p:sp>
      <p:sp>
        <p:nvSpPr>
          <p:cNvPr id="6" name="Footer Placeholder 5">
            <a:extLst>
              <a:ext uri="{FF2B5EF4-FFF2-40B4-BE49-F238E27FC236}">
                <a16:creationId xmlns:a16="http://schemas.microsoft.com/office/drawing/2014/main" id="{635AFCDC-24A9-5CD9-5C8E-EA117B0ECE47}"/>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0F1E85D4-063C-6BE4-F7C1-2305D0CF8C1D}"/>
              </a:ext>
            </a:extLst>
          </p:cNvPr>
          <p:cNvSpPr>
            <a:spLocks noGrp="1"/>
          </p:cNvSpPr>
          <p:nvPr>
            <p:ph type="sldNum" sz="quarter" idx="12"/>
          </p:nvPr>
        </p:nvSpPr>
        <p:spPr/>
        <p:txBody>
          <a:bodyPr/>
          <a:lstStyle/>
          <a:p>
            <a:fld id="{8B25B77A-3ABF-491A-8FCD-DE4CFDF4A8AB}" type="slidenum">
              <a:rPr lang="vi-VN" smtClean="0"/>
              <a:t>‹#›</a:t>
            </a:fld>
            <a:endParaRPr lang="vi-VN"/>
          </a:p>
        </p:txBody>
      </p:sp>
    </p:spTree>
    <p:extLst>
      <p:ext uri="{BB962C8B-B14F-4D97-AF65-F5344CB8AC3E}">
        <p14:creationId xmlns:p14="http://schemas.microsoft.com/office/powerpoint/2010/main" val="301180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2E1D1-A47D-6400-E9AC-93E177B13BCE}"/>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B5F1B848-ED82-C7C4-9F7A-99D23EEB6A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4DE5A6-6EA8-E1FC-CE25-768DB92D23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3FA1970D-37DB-7A1B-3E9C-CFB43EFD25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568188-0194-66E2-80AC-748DFE8A42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598DA0FF-133A-C977-360C-CFF64A99712A}"/>
              </a:ext>
            </a:extLst>
          </p:cNvPr>
          <p:cNvSpPr>
            <a:spLocks noGrp="1"/>
          </p:cNvSpPr>
          <p:nvPr>
            <p:ph type="dt" sz="half" idx="10"/>
          </p:nvPr>
        </p:nvSpPr>
        <p:spPr/>
        <p:txBody>
          <a:bodyPr/>
          <a:lstStyle/>
          <a:p>
            <a:fld id="{BE33EF6D-A359-4082-8099-CD7BBD8544CC}" type="datetimeFigureOut">
              <a:rPr lang="vi-VN" smtClean="0"/>
              <a:t>15/10/2025</a:t>
            </a:fld>
            <a:endParaRPr lang="vi-VN"/>
          </a:p>
        </p:txBody>
      </p:sp>
      <p:sp>
        <p:nvSpPr>
          <p:cNvPr id="8" name="Footer Placeholder 7">
            <a:extLst>
              <a:ext uri="{FF2B5EF4-FFF2-40B4-BE49-F238E27FC236}">
                <a16:creationId xmlns:a16="http://schemas.microsoft.com/office/drawing/2014/main" id="{D2CE7BE7-CA8D-2E70-7B88-78ABD799571B}"/>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0BEF5200-DEF6-DAB4-9B7B-94F8A16B27CE}"/>
              </a:ext>
            </a:extLst>
          </p:cNvPr>
          <p:cNvSpPr>
            <a:spLocks noGrp="1"/>
          </p:cNvSpPr>
          <p:nvPr>
            <p:ph type="sldNum" sz="quarter" idx="12"/>
          </p:nvPr>
        </p:nvSpPr>
        <p:spPr/>
        <p:txBody>
          <a:bodyPr/>
          <a:lstStyle/>
          <a:p>
            <a:fld id="{8B25B77A-3ABF-491A-8FCD-DE4CFDF4A8AB}" type="slidenum">
              <a:rPr lang="vi-VN" smtClean="0"/>
              <a:t>‹#›</a:t>
            </a:fld>
            <a:endParaRPr lang="vi-VN"/>
          </a:p>
        </p:txBody>
      </p:sp>
    </p:spTree>
    <p:extLst>
      <p:ext uri="{BB962C8B-B14F-4D97-AF65-F5344CB8AC3E}">
        <p14:creationId xmlns:p14="http://schemas.microsoft.com/office/powerpoint/2010/main" val="614019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5C47A-2589-A71F-5098-FE22C3B6A485}"/>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DA24E74B-A330-764F-B991-223CFE470FC6}"/>
              </a:ext>
            </a:extLst>
          </p:cNvPr>
          <p:cNvSpPr>
            <a:spLocks noGrp="1"/>
          </p:cNvSpPr>
          <p:nvPr>
            <p:ph type="dt" sz="half" idx="10"/>
          </p:nvPr>
        </p:nvSpPr>
        <p:spPr/>
        <p:txBody>
          <a:bodyPr/>
          <a:lstStyle/>
          <a:p>
            <a:fld id="{BE33EF6D-A359-4082-8099-CD7BBD8544CC}" type="datetimeFigureOut">
              <a:rPr lang="vi-VN" smtClean="0"/>
              <a:t>15/10/2025</a:t>
            </a:fld>
            <a:endParaRPr lang="vi-VN"/>
          </a:p>
        </p:txBody>
      </p:sp>
      <p:sp>
        <p:nvSpPr>
          <p:cNvPr id="4" name="Footer Placeholder 3">
            <a:extLst>
              <a:ext uri="{FF2B5EF4-FFF2-40B4-BE49-F238E27FC236}">
                <a16:creationId xmlns:a16="http://schemas.microsoft.com/office/drawing/2014/main" id="{7BCAC804-8A7D-9147-47BE-21249B35742F}"/>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5659C1BB-6E75-69FD-AF7E-4E02C9738289}"/>
              </a:ext>
            </a:extLst>
          </p:cNvPr>
          <p:cNvSpPr>
            <a:spLocks noGrp="1"/>
          </p:cNvSpPr>
          <p:nvPr>
            <p:ph type="sldNum" sz="quarter" idx="12"/>
          </p:nvPr>
        </p:nvSpPr>
        <p:spPr/>
        <p:txBody>
          <a:bodyPr/>
          <a:lstStyle/>
          <a:p>
            <a:fld id="{8B25B77A-3ABF-491A-8FCD-DE4CFDF4A8AB}" type="slidenum">
              <a:rPr lang="vi-VN" smtClean="0"/>
              <a:t>‹#›</a:t>
            </a:fld>
            <a:endParaRPr lang="vi-VN"/>
          </a:p>
        </p:txBody>
      </p:sp>
    </p:spTree>
    <p:extLst>
      <p:ext uri="{BB962C8B-B14F-4D97-AF65-F5344CB8AC3E}">
        <p14:creationId xmlns:p14="http://schemas.microsoft.com/office/powerpoint/2010/main" val="646181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0D9BE4-4503-49A4-A724-6454FA5BE0E2}"/>
              </a:ext>
            </a:extLst>
          </p:cNvPr>
          <p:cNvSpPr>
            <a:spLocks noGrp="1"/>
          </p:cNvSpPr>
          <p:nvPr>
            <p:ph type="dt" sz="half" idx="10"/>
          </p:nvPr>
        </p:nvSpPr>
        <p:spPr/>
        <p:txBody>
          <a:bodyPr/>
          <a:lstStyle/>
          <a:p>
            <a:fld id="{BE33EF6D-A359-4082-8099-CD7BBD8544CC}" type="datetimeFigureOut">
              <a:rPr lang="vi-VN" smtClean="0"/>
              <a:t>15/10/2025</a:t>
            </a:fld>
            <a:endParaRPr lang="vi-VN"/>
          </a:p>
        </p:txBody>
      </p:sp>
      <p:sp>
        <p:nvSpPr>
          <p:cNvPr id="3" name="Footer Placeholder 2">
            <a:extLst>
              <a:ext uri="{FF2B5EF4-FFF2-40B4-BE49-F238E27FC236}">
                <a16:creationId xmlns:a16="http://schemas.microsoft.com/office/drawing/2014/main" id="{C14C2482-6CC3-054D-434E-D059696E8119}"/>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B475CB07-38AC-DC59-84BA-1D5B8F7835D6}"/>
              </a:ext>
            </a:extLst>
          </p:cNvPr>
          <p:cNvSpPr>
            <a:spLocks noGrp="1"/>
          </p:cNvSpPr>
          <p:nvPr>
            <p:ph type="sldNum" sz="quarter" idx="12"/>
          </p:nvPr>
        </p:nvSpPr>
        <p:spPr/>
        <p:txBody>
          <a:bodyPr/>
          <a:lstStyle/>
          <a:p>
            <a:fld id="{8B25B77A-3ABF-491A-8FCD-DE4CFDF4A8AB}" type="slidenum">
              <a:rPr lang="vi-VN" smtClean="0"/>
              <a:t>‹#›</a:t>
            </a:fld>
            <a:endParaRPr lang="vi-VN"/>
          </a:p>
        </p:txBody>
      </p:sp>
    </p:spTree>
    <p:extLst>
      <p:ext uri="{BB962C8B-B14F-4D97-AF65-F5344CB8AC3E}">
        <p14:creationId xmlns:p14="http://schemas.microsoft.com/office/powerpoint/2010/main" val="19129400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14DA2-E28D-C6BA-D4F9-77A907AC47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DACA4E31-F2BE-B314-3F38-0366E815C0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0B43105A-46F3-6A36-0E57-C4CB7FCAA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638AAD-B0E9-C33A-38A9-1C842B05A083}"/>
              </a:ext>
            </a:extLst>
          </p:cNvPr>
          <p:cNvSpPr>
            <a:spLocks noGrp="1"/>
          </p:cNvSpPr>
          <p:nvPr>
            <p:ph type="dt" sz="half" idx="10"/>
          </p:nvPr>
        </p:nvSpPr>
        <p:spPr/>
        <p:txBody>
          <a:bodyPr/>
          <a:lstStyle/>
          <a:p>
            <a:fld id="{BE33EF6D-A359-4082-8099-CD7BBD8544CC}" type="datetimeFigureOut">
              <a:rPr lang="vi-VN" smtClean="0"/>
              <a:t>15/10/2025</a:t>
            </a:fld>
            <a:endParaRPr lang="vi-VN"/>
          </a:p>
        </p:txBody>
      </p:sp>
      <p:sp>
        <p:nvSpPr>
          <p:cNvPr id="6" name="Footer Placeholder 5">
            <a:extLst>
              <a:ext uri="{FF2B5EF4-FFF2-40B4-BE49-F238E27FC236}">
                <a16:creationId xmlns:a16="http://schemas.microsoft.com/office/drawing/2014/main" id="{3558C567-3DC3-1D8B-FBDB-BD38C6D1D10C}"/>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761FC170-1130-829D-3E8C-56446C3826E9}"/>
              </a:ext>
            </a:extLst>
          </p:cNvPr>
          <p:cNvSpPr>
            <a:spLocks noGrp="1"/>
          </p:cNvSpPr>
          <p:nvPr>
            <p:ph type="sldNum" sz="quarter" idx="12"/>
          </p:nvPr>
        </p:nvSpPr>
        <p:spPr/>
        <p:txBody>
          <a:bodyPr/>
          <a:lstStyle/>
          <a:p>
            <a:fld id="{8B25B77A-3ABF-491A-8FCD-DE4CFDF4A8AB}" type="slidenum">
              <a:rPr lang="vi-VN" smtClean="0"/>
              <a:t>‹#›</a:t>
            </a:fld>
            <a:endParaRPr lang="vi-VN"/>
          </a:p>
        </p:txBody>
      </p:sp>
    </p:spTree>
    <p:extLst>
      <p:ext uri="{BB962C8B-B14F-4D97-AF65-F5344CB8AC3E}">
        <p14:creationId xmlns:p14="http://schemas.microsoft.com/office/powerpoint/2010/main" val="2097489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373D1-CD85-BD17-42F6-208934BDB2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58D97806-CCBB-24C3-6B47-6C2A9A69C1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A416EBFD-317A-124C-C026-B8F4EEC7DA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7F1C03-6205-EFCB-27AD-C028CDF7B951}"/>
              </a:ext>
            </a:extLst>
          </p:cNvPr>
          <p:cNvSpPr>
            <a:spLocks noGrp="1"/>
          </p:cNvSpPr>
          <p:nvPr>
            <p:ph type="dt" sz="half" idx="10"/>
          </p:nvPr>
        </p:nvSpPr>
        <p:spPr/>
        <p:txBody>
          <a:bodyPr/>
          <a:lstStyle/>
          <a:p>
            <a:fld id="{BE33EF6D-A359-4082-8099-CD7BBD8544CC}" type="datetimeFigureOut">
              <a:rPr lang="vi-VN" smtClean="0"/>
              <a:t>15/10/2025</a:t>
            </a:fld>
            <a:endParaRPr lang="vi-VN"/>
          </a:p>
        </p:txBody>
      </p:sp>
      <p:sp>
        <p:nvSpPr>
          <p:cNvPr id="6" name="Footer Placeholder 5">
            <a:extLst>
              <a:ext uri="{FF2B5EF4-FFF2-40B4-BE49-F238E27FC236}">
                <a16:creationId xmlns:a16="http://schemas.microsoft.com/office/drawing/2014/main" id="{4A461F1B-DFF9-70C2-4E43-8F1757C04FBA}"/>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FB754F21-BBA2-8240-6D2F-AC49AB04872E}"/>
              </a:ext>
            </a:extLst>
          </p:cNvPr>
          <p:cNvSpPr>
            <a:spLocks noGrp="1"/>
          </p:cNvSpPr>
          <p:nvPr>
            <p:ph type="sldNum" sz="quarter" idx="12"/>
          </p:nvPr>
        </p:nvSpPr>
        <p:spPr/>
        <p:txBody>
          <a:bodyPr/>
          <a:lstStyle/>
          <a:p>
            <a:fld id="{8B25B77A-3ABF-491A-8FCD-DE4CFDF4A8AB}" type="slidenum">
              <a:rPr lang="vi-VN" smtClean="0"/>
              <a:t>‹#›</a:t>
            </a:fld>
            <a:endParaRPr lang="vi-VN"/>
          </a:p>
        </p:txBody>
      </p:sp>
    </p:spTree>
    <p:extLst>
      <p:ext uri="{BB962C8B-B14F-4D97-AF65-F5344CB8AC3E}">
        <p14:creationId xmlns:p14="http://schemas.microsoft.com/office/powerpoint/2010/main" val="2493854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580B8-40B3-4A95-1E58-3B0B67D936AC}"/>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4B64151D-E5FC-CE34-907F-4F313E13C0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B6570CF9-9E69-E582-A750-25B0011145F9}"/>
              </a:ext>
            </a:extLst>
          </p:cNvPr>
          <p:cNvSpPr>
            <a:spLocks noGrp="1"/>
          </p:cNvSpPr>
          <p:nvPr>
            <p:ph type="dt" sz="half" idx="10"/>
          </p:nvPr>
        </p:nvSpPr>
        <p:spPr/>
        <p:txBody>
          <a:bodyPr/>
          <a:lstStyle/>
          <a:p>
            <a:fld id="{BE33EF6D-A359-4082-8099-CD7BBD8544CC}" type="datetimeFigureOut">
              <a:rPr lang="vi-VN" smtClean="0"/>
              <a:t>15/10/2025</a:t>
            </a:fld>
            <a:endParaRPr lang="vi-VN"/>
          </a:p>
        </p:txBody>
      </p:sp>
      <p:sp>
        <p:nvSpPr>
          <p:cNvPr id="5" name="Footer Placeholder 4">
            <a:extLst>
              <a:ext uri="{FF2B5EF4-FFF2-40B4-BE49-F238E27FC236}">
                <a16:creationId xmlns:a16="http://schemas.microsoft.com/office/drawing/2014/main" id="{AB579B73-B116-9F3A-E373-D467AB586AAD}"/>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8BFBED1B-69AE-C7BA-F6AE-DCEB9875B8F8}"/>
              </a:ext>
            </a:extLst>
          </p:cNvPr>
          <p:cNvSpPr>
            <a:spLocks noGrp="1"/>
          </p:cNvSpPr>
          <p:nvPr>
            <p:ph type="sldNum" sz="quarter" idx="12"/>
          </p:nvPr>
        </p:nvSpPr>
        <p:spPr/>
        <p:txBody>
          <a:bodyPr/>
          <a:lstStyle/>
          <a:p>
            <a:fld id="{8B25B77A-3ABF-491A-8FCD-DE4CFDF4A8AB}" type="slidenum">
              <a:rPr lang="vi-VN" smtClean="0"/>
              <a:t>‹#›</a:t>
            </a:fld>
            <a:endParaRPr lang="vi-VN"/>
          </a:p>
        </p:txBody>
      </p:sp>
    </p:spTree>
    <p:extLst>
      <p:ext uri="{BB962C8B-B14F-4D97-AF65-F5344CB8AC3E}">
        <p14:creationId xmlns:p14="http://schemas.microsoft.com/office/powerpoint/2010/main" val="2352646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A34606-C059-256E-7600-2C9BC545E85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7063036E-A025-D679-C4AB-33C2D7A42B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0B343BB9-8AD7-6B5C-8B89-F665065C3C0F}"/>
              </a:ext>
            </a:extLst>
          </p:cNvPr>
          <p:cNvSpPr>
            <a:spLocks noGrp="1"/>
          </p:cNvSpPr>
          <p:nvPr>
            <p:ph type="dt" sz="half" idx="10"/>
          </p:nvPr>
        </p:nvSpPr>
        <p:spPr/>
        <p:txBody>
          <a:bodyPr/>
          <a:lstStyle/>
          <a:p>
            <a:fld id="{BE33EF6D-A359-4082-8099-CD7BBD8544CC}" type="datetimeFigureOut">
              <a:rPr lang="vi-VN" smtClean="0"/>
              <a:t>15/10/2025</a:t>
            </a:fld>
            <a:endParaRPr lang="vi-VN"/>
          </a:p>
        </p:txBody>
      </p:sp>
      <p:sp>
        <p:nvSpPr>
          <p:cNvPr id="5" name="Footer Placeholder 4">
            <a:extLst>
              <a:ext uri="{FF2B5EF4-FFF2-40B4-BE49-F238E27FC236}">
                <a16:creationId xmlns:a16="http://schemas.microsoft.com/office/drawing/2014/main" id="{9CF96E7A-78FE-07FC-8A3B-4000BE8F429C}"/>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D7EEB256-7C73-8D14-B9AD-4055F3D24F15}"/>
              </a:ext>
            </a:extLst>
          </p:cNvPr>
          <p:cNvSpPr>
            <a:spLocks noGrp="1"/>
          </p:cNvSpPr>
          <p:nvPr>
            <p:ph type="sldNum" sz="quarter" idx="12"/>
          </p:nvPr>
        </p:nvSpPr>
        <p:spPr/>
        <p:txBody>
          <a:bodyPr/>
          <a:lstStyle/>
          <a:p>
            <a:fld id="{8B25B77A-3ABF-491A-8FCD-DE4CFDF4A8AB}" type="slidenum">
              <a:rPr lang="vi-VN" smtClean="0"/>
              <a:t>‹#›</a:t>
            </a:fld>
            <a:endParaRPr lang="vi-VN"/>
          </a:p>
        </p:txBody>
      </p:sp>
    </p:spTree>
    <p:extLst>
      <p:ext uri="{BB962C8B-B14F-4D97-AF65-F5344CB8AC3E}">
        <p14:creationId xmlns:p14="http://schemas.microsoft.com/office/powerpoint/2010/main" val="2263743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4FD8AD-B0CC-30E1-8D8F-BC936D8AF5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BE6056AE-02C9-32FF-77B9-48BB9CF0FA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410C405E-1AFF-6AE2-FF84-CEE28A8B0F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33EF6D-A359-4082-8099-CD7BBD8544CC}" type="datetimeFigureOut">
              <a:rPr lang="vi-VN" smtClean="0"/>
              <a:t>15/10/2025</a:t>
            </a:fld>
            <a:endParaRPr lang="vi-VN"/>
          </a:p>
        </p:txBody>
      </p:sp>
      <p:sp>
        <p:nvSpPr>
          <p:cNvPr id="5" name="Footer Placeholder 4">
            <a:extLst>
              <a:ext uri="{FF2B5EF4-FFF2-40B4-BE49-F238E27FC236}">
                <a16:creationId xmlns:a16="http://schemas.microsoft.com/office/drawing/2014/main" id="{3BFA8B83-7F6E-FE73-2697-F487680CA1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a:extLst>
              <a:ext uri="{FF2B5EF4-FFF2-40B4-BE49-F238E27FC236}">
                <a16:creationId xmlns:a16="http://schemas.microsoft.com/office/drawing/2014/main" id="{D89C9967-F2D3-21A0-9049-B172C7E09A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25B77A-3ABF-491A-8FCD-DE4CFDF4A8AB}" type="slidenum">
              <a:rPr lang="vi-VN" smtClean="0"/>
              <a:t>‹#›</a:t>
            </a:fld>
            <a:endParaRPr lang="vi-VN"/>
          </a:p>
        </p:txBody>
      </p:sp>
    </p:spTree>
    <p:extLst>
      <p:ext uri="{BB962C8B-B14F-4D97-AF65-F5344CB8AC3E}">
        <p14:creationId xmlns:p14="http://schemas.microsoft.com/office/powerpoint/2010/main" val="150915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31993-EEB3-1065-80C7-2A6008366956}"/>
              </a:ext>
            </a:extLst>
          </p:cNvPr>
          <p:cNvSpPr>
            <a:spLocks noGrp="1"/>
          </p:cNvSpPr>
          <p:nvPr>
            <p:ph type="ctrTitle"/>
          </p:nvPr>
        </p:nvSpPr>
        <p:spPr/>
        <p:txBody>
          <a:bodyPr>
            <a:normAutofit/>
          </a:bodyPr>
          <a:lstStyle/>
          <a:p>
            <a:r>
              <a:rPr lang="en-US" dirty="0" err="1"/>
              <a:t>GraphRAG</a:t>
            </a:r>
            <a:br>
              <a:rPr lang="en-US" dirty="0"/>
            </a:br>
            <a:r>
              <a:rPr lang="en-US" sz="4900" dirty="0"/>
              <a:t>Evaluate </a:t>
            </a:r>
            <a:r>
              <a:rPr lang="en-US" sz="4900" dirty="0" err="1"/>
              <a:t>LightRAG</a:t>
            </a:r>
            <a:r>
              <a:rPr lang="en-US" sz="4900" dirty="0"/>
              <a:t> framework</a:t>
            </a:r>
            <a:endParaRPr lang="vi-VN" sz="4900" dirty="0"/>
          </a:p>
        </p:txBody>
      </p:sp>
      <p:sp>
        <p:nvSpPr>
          <p:cNvPr id="3" name="Subtitle 2">
            <a:extLst>
              <a:ext uri="{FF2B5EF4-FFF2-40B4-BE49-F238E27FC236}">
                <a16:creationId xmlns:a16="http://schemas.microsoft.com/office/drawing/2014/main" id="{15BC88FC-64F5-E240-1D16-3C6CA34CC9B8}"/>
              </a:ext>
            </a:extLst>
          </p:cNvPr>
          <p:cNvSpPr>
            <a:spLocks noGrp="1"/>
          </p:cNvSpPr>
          <p:nvPr>
            <p:ph type="subTitle" idx="1"/>
          </p:nvPr>
        </p:nvSpPr>
        <p:spPr/>
        <p:txBody>
          <a:bodyPr/>
          <a:lstStyle/>
          <a:p>
            <a:r>
              <a:rPr lang="en-US" dirty="0" err="1"/>
              <a:t>MinhPV</a:t>
            </a:r>
            <a:endParaRPr lang="vi-VN" dirty="0"/>
          </a:p>
        </p:txBody>
      </p:sp>
    </p:spTree>
    <p:extLst>
      <p:ext uri="{BB962C8B-B14F-4D97-AF65-F5344CB8AC3E}">
        <p14:creationId xmlns:p14="http://schemas.microsoft.com/office/powerpoint/2010/main" val="745121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B34B1-8E0A-8E66-7816-88F531468F9F}"/>
              </a:ext>
            </a:extLst>
          </p:cNvPr>
          <p:cNvSpPr>
            <a:spLocks noGrp="1"/>
          </p:cNvSpPr>
          <p:nvPr>
            <p:ph type="title"/>
          </p:nvPr>
        </p:nvSpPr>
        <p:spPr/>
        <p:txBody>
          <a:bodyPr/>
          <a:lstStyle/>
          <a:p>
            <a:r>
              <a:rPr lang="en-US" dirty="0"/>
              <a:t>1. </a:t>
            </a:r>
            <a:r>
              <a:rPr lang="en-US" dirty="0" err="1"/>
              <a:t>LightRAG</a:t>
            </a:r>
            <a:endParaRPr lang="vi-VN" dirty="0"/>
          </a:p>
        </p:txBody>
      </p:sp>
      <p:pic>
        <p:nvPicPr>
          <p:cNvPr id="1026" name="Picture 2" descr="Teaser">
            <a:extLst>
              <a:ext uri="{FF2B5EF4-FFF2-40B4-BE49-F238E27FC236}">
                <a16:creationId xmlns:a16="http://schemas.microsoft.com/office/drawing/2014/main" id="{0E05F6DE-1BAE-E9AA-EEFF-1D81BE022BE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6371" y="1443531"/>
            <a:ext cx="12002813" cy="282367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3D124EB-FCF7-4A3D-7DAD-2EADFA44A57C}"/>
              </a:ext>
            </a:extLst>
          </p:cNvPr>
          <p:cNvSpPr txBox="1"/>
          <p:nvPr/>
        </p:nvSpPr>
        <p:spPr>
          <a:xfrm>
            <a:off x="350520" y="4461550"/>
            <a:ext cx="11490960" cy="2031325"/>
          </a:xfrm>
          <a:prstGeom prst="rect">
            <a:avLst/>
          </a:prstGeom>
          <a:noFill/>
        </p:spPr>
        <p:txBody>
          <a:bodyPr wrap="square" rtlCol="0">
            <a:spAutoFit/>
          </a:bodyPr>
          <a:lstStyle/>
          <a:p>
            <a:pPr marL="285750" indent="-285750">
              <a:buFontTx/>
              <a:buChar char="-"/>
            </a:pPr>
            <a:r>
              <a:rPr lang="vi-VN" b="1" i="0" dirty="0">
                <a:solidFill>
                  <a:srgbClr val="4A4A4A"/>
                </a:solidFill>
                <a:effectLst/>
                <a:latin typeface="Noto Sans" panose="020B0502040204020203" pitchFamily="34" charset="0"/>
              </a:rPr>
              <a:t>Extracting Entities and Relationships</a:t>
            </a:r>
            <a:r>
              <a:rPr lang="en-US" b="1" i="0" dirty="0">
                <a:solidFill>
                  <a:srgbClr val="4A4A4A"/>
                </a:solidFill>
                <a:effectLst/>
                <a:latin typeface="Noto Sans" panose="020B0502040204020203" pitchFamily="34" charset="0"/>
              </a:rPr>
              <a:t> (R): </a:t>
            </a:r>
            <a:r>
              <a:rPr lang="en-US" i="0" dirty="0">
                <a:solidFill>
                  <a:srgbClr val="4A4A4A"/>
                </a:solidFill>
                <a:effectLst/>
                <a:latin typeface="Noto Sans" panose="020B0502040204020203" pitchFamily="34" charset="0"/>
              </a:rPr>
              <a:t>prompt LLM </a:t>
            </a:r>
            <a:r>
              <a:rPr lang="vi-VN" i="0" dirty="0">
                <a:solidFill>
                  <a:srgbClr val="4A4A4A"/>
                </a:solidFill>
                <a:effectLst/>
                <a:latin typeface="Noto Sans" panose="020B0502040204020203" pitchFamily="34" charset="0"/>
              </a:rPr>
              <a:t>để trích ra entities(nodes) và relationships (edges)</a:t>
            </a:r>
          </a:p>
          <a:p>
            <a:pPr marL="285750" indent="-285750">
              <a:buFontTx/>
              <a:buChar char="-"/>
            </a:pPr>
            <a:r>
              <a:rPr lang="en-US" b="1" i="0" dirty="0">
                <a:solidFill>
                  <a:srgbClr val="4A4A4A"/>
                </a:solidFill>
                <a:effectLst/>
                <a:latin typeface="Noto Sans" panose="020B0502040504020204" pitchFamily="34" charset="0"/>
              </a:rPr>
              <a:t>LLM Profiling for Key-Value Pair Generation</a:t>
            </a:r>
            <a:r>
              <a:rPr lang="vi-VN" b="1" dirty="0">
                <a:solidFill>
                  <a:srgbClr val="4A4A4A"/>
                </a:solidFill>
                <a:latin typeface="Noto Sans" panose="020B0502040204020203" pitchFamily="34" charset="0"/>
              </a:rPr>
              <a:t> (P): </a:t>
            </a:r>
            <a:r>
              <a:rPr lang="vi-VN" dirty="0">
                <a:solidFill>
                  <a:srgbClr val="4A4A4A"/>
                </a:solidFill>
                <a:latin typeface="Noto Sans" panose="020B0502040204020203" pitchFamily="34" charset="0"/>
              </a:rPr>
              <a:t>dùng LLM để tạo cặp key-value, mỗi cặp có 1 index (key: short phrase, value: đoạn văn bản tóm tắt các đoạn liên quan từ dữ liệu bên ngoài để hỗ trợ tạo văn bản)   </a:t>
            </a:r>
          </a:p>
          <a:p>
            <a:pPr marL="285750" indent="-285750">
              <a:buFontTx/>
              <a:buChar char="-"/>
            </a:pPr>
            <a:r>
              <a:rPr lang="en-US" b="1" i="0" dirty="0">
                <a:solidFill>
                  <a:srgbClr val="4A4A4A"/>
                </a:solidFill>
                <a:effectLst/>
                <a:latin typeface="Noto Sans" panose="020B0502040504020204" pitchFamily="34" charset="0"/>
              </a:rPr>
              <a:t>Deduplication to Optimize Graph Operations</a:t>
            </a:r>
            <a:r>
              <a:rPr lang="vi-VN" b="1" i="0" dirty="0">
                <a:solidFill>
                  <a:srgbClr val="4A4A4A"/>
                </a:solidFill>
                <a:effectLst/>
                <a:latin typeface="Noto Sans" panose="020B0502040204020203" pitchFamily="34" charset="0"/>
              </a:rPr>
              <a:t> (D): </a:t>
            </a:r>
            <a:r>
              <a:rPr lang="vi-VN" i="0" dirty="0">
                <a:solidFill>
                  <a:srgbClr val="4A4A4A"/>
                </a:solidFill>
                <a:effectLst/>
                <a:latin typeface="Noto Sans" panose="020B0502040204020203" pitchFamily="34" charset="0"/>
              </a:rPr>
              <a:t>loại bỏ trùng lặp từ các phần trích xuất khác nhau (entity và relationship giống nhau) -&gt; giảm kích thước graph -&gt; xử lí hiệu quả hơn</a:t>
            </a:r>
            <a:endParaRPr lang="vi-VN" dirty="0"/>
          </a:p>
        </p:txBody>
      </p:sp>
    </p:spTree>
    <p:extLst>
      <p:ext uri="{BB962C8B-B14F-4D97-AF65-F5344CB8AC3E}">
        <p14:creationId xmlns:p14="http://schemas.microsoft.com/office/powerpoint/2010/main" val="1978135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B34B1-8E0A-8E66-7816-88F531468F9F}"/>
              </a:ext>
            </a:extLst>
          </p:cNvPr>
          <p:cNvSpPr>
            <a:spLocks noGrp="1"/>
          </p:cNvSpPr>
          <p:nvPr>
            <p:ph type="title"/>
          </p:nvPr>
        </p:nvSpPr>
        <p:spPr/>
        <p:txBody>
          <a:bodyPr/>
          <a:lstStyle/>
          <a:p>
            <a:r>
              <a:rPr lang="en-US" dirty="0"/>
              <a:t>1. </a:t>
            </a:r>
            <a:r>
              <a:rPr lang="en-US" dirty="0" err="1"/>
              <a:t>LightRAG</a:t>
            </a:r>
            <a:endParaRPr lang="vi-VN" dirty="0"/>
          </a:p>
        </p:txBody>
      </p:sp>
      <p:pic>
        <p:nvPicPr>
          <p:cNvPr id="1026" name="Picture 2" descr="Teaser">
            <a:extLst>
              <a:ext uri="{FF2B5EF4-FFF2-40B4-BE49-F238E27FC236}">
                <a16:creationId xmlns:a16="http://schemas.microsoft.com/office/drawing/2014/main" id="{0E05F6DE-1BAE-E9AA-EEFF-1D81BE022BE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6371" y="1443531"/>
            <a:ext cx="12002813" cy="282367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3D124EB-FCF7-4A3D-7DAD-2EADFA44A57C}"/>
              </a:ext>
            </a:extLst>
          </p:cNvPr>
          <p:cNvSpPr txBox="1"/>
          <p:nvPr/>
        </p:nvSpPr>
        <p:spPr>
          <a:xfrm>
            <a:off x="350520" y="4461550"/>
            <a:ext cx="11490960" cy="923330"/>
          </a:xfrm>
          <a:prstGeom prst="rect">
            <a:avLst/>
          </a:prstGeom>
          <a:noFill/>
        </p:spPr>
        <p:txBody>
          <a:bodyPr wrap="square" rtlCol="0">
            <a:spAutoFit/>
          </a:bodyPr>
          <a:lstStyle/>
          <a:p>
            <a:pPr marL="285750" indent="-285750" algn="just">
              <a:buFont typeface="Arial" panose="020B0604020202020204" pitchFamily="34" charset="0"/>
              <a:buChar char="•"/>
            </a:pPr>
            <a:r>
              <a:rPr lang="en-US" b="1" i="0" dirty="0">
                <a:solidFill>
                  <a:srgbClr val="4A4A4A"/>
                </a:solidFill>
                <a:effectLst/>
                <a:latin typeface="Noto Sans" panose="020B0502040504020204" pitchFamily="34" charset="0"/>
              </a:rPr>
              <a:t>Specific Queries</a:t>
            </a:r>
            <a:r>
              <a:rPr lang="en-US" b="0" i="0" dirty="0">
                <a:solidFill>
                  <a:srgbClr val="4A4A4A"/>
                </a:solidFill>
                <a:effectLst/>
                <a:latin typeface="Noto Sans" panose="020B0502040504020204" pitchFamily="34" charset="0"/>
              </a:rPr>
              <a:t>: </a:t>
            </a:r>
            <a:r>
              <a:rPr lang="en-US" dirty="0" err="1">
                <a:solidFill>
                  <a:srgbClr val="4A4A4A"/>
                </a:solidFill>
                <a:latin typeface="Noto Sans" panose="020B0502040504020204" pitchFamily="34" charset="0"/>
              </a:rPr>
              <a:t>T</a:t>
            </a:r>
            <a:r>
              <a:rPr lang="en-US" b="0" i="0" dirty="0" err="1">
                <a:solidFill>
                  <a:srgbClr val="4A4A4A"/>
                </a:solidFill>
                <a:effectLst/>
                <a:latin typeface="Noto Sans" panose="020B0502040504020204" pitchFamily="34" charset="0"/>
              </a:rPr>
              <a:t>ruy</a:t>
            </a:r>
            <a:r>
              <a:rPr lang="en-US" b="0" i="0" dirty="0">
                <a:solidFill>
                  <a:srgbClr val="4A4A4A"/>
                </a:solidFill>
                <a:effectLst/>
                <a:latin typeface="Noto Sans" panose="020B0502040504020204" pitchFamily="34" charset="0"/>
              </a:rPr>
              <a:t> </a:t>
            </a:r>
            <a:r>
              <a:rPr lang="vi-VN" b="0" i="0" dirty="0">
                <a:solidFill>
                  <a:srgbClr val="4A4A4A"/>
                </a:solidFill>
                <a:effectLst/>
                <a:latin typeface="Noto Sans" panose="020B0502040504020204" pitchFamily="34" charset="0"/>
              </a:rPr>
              <a:t>vấn cụ thể, ánh xạ trực tiếp đến các node và cạnh trong graph.</a:t>
            </a:r>
            <a:endParaRPr lang="en-US" b="0" i="0" dirty="0">
              <a:solidFill>
                <a:srgbClr val="4A4A4A"/>
              </a:solidFill>
              <a:effectLst/>
              <a:latin typeface="Noto Sans" panose="020B0502040504020204" pitchFamily="34" charset="0"/>
            </a:endParaRPr>
          </a:p>
          <a:p>
            <a:pPr marL="285750" indent="-285750" algn="just">
              <a:buFont typeface="Arial" panose="020B0604020202020204" pitchFamily="34" charset="0"/>
              <a:buChar char="•"/>
            </a:pPr>
            <a:r>
              <a:rPr lang="en-US" b="1" i="0" dirty="0">
                <a:solidFill>
                  <a:srgbClr val="4A4A4A"/>
                </a:solidFill>
                <a:effectLst/>
                <a:latin typeface="Noto Sans" panose="020B0502040504020204" pitchFamily="34" charset="0"/>
              </a:rPr>
              <a:t>Abstract Queries</a:t>
            </a:r>
            <a:r>
              <a:rPr lang="en-US" b="0" i="0" dirty="0">
                <a:solidFill>
                  <a:srgbClr val="4A4A4A"/>
                </a:solidFill>
                <a:effectLst/>
                <a:latin typeface="Noto Sans" panose="020B0502040504020204" pitchFamily="34" charset="0"/>
              </a:rPr>
              <a:t>: </a:t>
            </a:r>
            <a:r>
              <a:rPr lang="en-US" b="0" i="0" dirty="0" err="1">
                <a:solidFill>
                  <a:srgbClr val="4A4A4A"/>
                </a:solidFill>
                <a:effectLst/>
                <a:latin typeface="Noto Sans" panose="020B0502040504020204" pitchFamily="34" charset="0"/>
              </a:rPr>
              <a:t>Truy</a:t>
            </a:r>
            <a:r>
              <a:rPr lang="en-US" b="0" i="0" dirty="0">
                <a:solidFill>
                  <a:srgbClr val="4A4A4A"/>
                </a:solidFill>
                <a:effectLst/>
                <a:latin typeface="Noto Sans" panose="020B0502040504020204" pitchFamily="34" charset="0"/>
              </a:rPr>
              <a:t> </a:t>
            </a:r>
            <a:r>
              <a:rPr lang="vi-VN" b="0" i="0" dirty="0">
                <a:solidFill>
                  <a:srgbClr val="4A4A4A"/>
                </a:solidFill>
                <a:effectLst/>
                <a:latin typeface="Noto Sans" panose="020B0502040504020204" pitchFamily="34" charset="0"/>
              </a:rPr>
              <a:t>vấn trừu tượng, chủ yếu ở mức tóm tắt hoặc chủ đề, không gắn trực tiếp với các thực thể</a:t>
            </a:r>
            <a:endParaRPr lang="en-US" b="0" i="0" dirty="0">
              <a:solidFill>
                <a:srgbClr val="4A4A4A"/>
              </a:solidFill>
              <a:effectLst/>
              <a:latin typeface="Noto Sans" panose="020B0502040504020204" pitchFamily="34" charset="0"/>
            </a:endParaRPr>
          </a:p>
        </p:txBody>
      </p:sp>
    </p:spTree>
    <p:extLst>
      <p:ext uri="{BB962C8B-B14F-4D97-AF65-F5344CB8AC3E}">
        <p14:creationId xmlns:p14="http://schemas.microsoft.com/office/powerpoint/2010/main" val="3084710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B34B1-8E0A-8E66-7816-88F531468F9F}"/>
              </a:ext>
            </a:extLst>
          </p:cNvPr>
          <p:cNvSpPr>
            <a:spLocks noGrp="1"/>
          </p:cNvSpPr>
          <p:nvPr>
            <p:ph type="title"/>
          </p:nvPr>
        </p:nvSpPr>
        <p:spPr/>
        <p:txBody>
          <a:bodyPr/>
          <a:lstStyle/>
          <a:p>
            <a:r>
              <a:rPr lang="en-US" dirty="0"/>
              <a:t>1. </a:t>
            </a:r>
            <a:r>
              <a:rPr lang="en-US" dirty="0" err="1"/>
              <a:t>LightRAG</a:t>
            </a:r>
            <a:endParaRPr lang="vi-VN" dirty="0"/>
          </a:p>
        </p:txBody>
      </p:sp>
      <p:pic>
        <p:nvPicPr>
          <p:cNvPr id="1026" name="Picture 2" descr="Teaser">
            <a:extLst>
              <a:ext uri="{FF2B5EF4-FFF2-40B4-BE49-F238E27FC236}">
                <a16:creationId xmlns:a16="http://schemas.microsoft.com/office/drawing/2014/main" id="{0E05F6DE-1BAE-E9AA-EEFF-1D81BE022BE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6371" y="1443531"/>
            <a:ext cx="12002813" cy="282367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3D124EB-FCF7-4A3D-7DAD-2EADFA44A57C}"/>
              </a:ext>
            </a:extLst>
          </p:cNvPr>
          <p:cNvSpPr txBox="1"/>
          <p:nvPr/>
        </p:nvSpPr>
        <p:spPr>
          <a:xfrm>
            <a:off x="350520" y="4461550"/>
            <a:ext cx="11490960" cy="923330"/>
          </a:xfrm>
          <a:prstGeom prst="rect">
            <a:avLst/>
          </a:prstGeom>
          <a:noFill/>
        </p:spPr>
        <p:txBody>
          <a:bodyPr wrap="square" rtlCol="0">
            <a:spAutoFit/>
          </a:bodyPr>
          <a:lstStyle/>
          <a:p>
            <a:pPr marL="285750" indent="-285750" algn="just">
              <a:buFont typeface="Arial" panose="020B0604020202020204" pitchFamily="34" charset="0"/>
              <a:buChar char="•"/>
            </a:pPr>
            <a:r>
              <a:rPr lang="en-US" b="1" i="0" dirty="0">
                <a:solidFill>
                  <a:srgbClr val="4A4A4A"/>
                </a:solidFill>
                <a:effectLst/>
                <a:latin typeface="Noto Sans" panose="020B0502040504020204" pitchFamily="34" charset="0"/>
              </a:rPr>
              <a:t>Low-Level Retrieval</a:t>
            </a:r>
            <a:r>
              <a:rPr lang="en-US" b="0" i="0" dirty="0">
                <a:solidFill>
                  <a:srgbClr val="4A4A4A"/>
                </a:solidFill>
                <a:effectLst/>
                <a:latin typeface="Noto Sans" panose="020B0502040504020204" pitchFamily="34" charset="0"/>
              </a:rPr>
              <a:t>: Level </a:t>
            </a:r>
            <a:r>
              <a:rPr lang="vi-VN" b="0" i="0" dirty="0">
                <a:solidFill>
                  <a:srgbClr val="4A4A4A"/>
                </a:solidFill>
                <a:effectLst/>
                <a:latin typeface="Noto Sans" panose="020B0502040504020204" pitchFamily="34" charset="0"/>
              </a:rPr>
              <a:t>này chủ yếu truy xuất entities (nodes) và relationships (edges) liên quan (cố gắng truy xuất chi tiết và chính xác các nút và cạnh)</a:t>
            </a:r>
            <a:endParaRPr lang="en-US" b="0" i="0" dirty="0">
              <a:solidFill>
                <a:srgbClr val="4A4A4A"/>
              </a:solidFill>
              <a:effectLst/>
              <a:latin typeface="Noto Sans" panose="020B0502040504020204" pitchFamily="34" charset="0"/>
            </a:endParaRPr>
          </a:p>
          <a:p>
            <a:pPr marL="285750" indent="-285750" algn="just">
              <a:buFont typeface="Arial" panose="020B0604020202020204" pitchFamily="34" charset="0"/>
              <a:buChar char="•"/>
            </a:pPr>
            <a:r>
              <a:rPr lang="en-US" b="1" i="0" dirty="0">
                <a:solidFill>
                  <a:srgbClr val="4A4A4A"/>
                </a:solidFill>
                <a:effectLst/>
                <a:latin typeface="Noto Sans" panose="020B0502040504020204" pitchFamily="34" charset="0"/>
              </a:rPr>
              <a:t>High-Level Retrieval</a:t>
            </a:r>
            <a:r>
              <a:rPr lang="en-US" b="0" i="0" dirty="0">
                <a:solidFill>
                  <a:srgbClr val="4A4A4A"/>
                </a:solidFill>
                <a:effectLst/>
                <a:latin typeface="Noto Sans" panose="020B0502040504020204" pitchFamily="34" charset="0"/>
              </a:rPr>
              <a:t>: Level </a:t>
            </a:r>
            <a:r>
              <a:rPr lang="vi-VN" b="0" i="0" dirty="0">
                <a:solidFill>
                  <a:srgbClr val="4A4A4A"/>
                </a:solidFill>
                <a:effectLst/>
                <a:latin typeface="Noto Sans" panose="020B0502040504020204" pitchFamily="34" charset="0"/>
              </a:rPr>
              <a:t>này chủ yếu trích xuất topic và chủ đề bao quát</a:t>
            </a:r>
            <a:endParaRPr lang="en-US" b="0" i="0" dirty="0">
              <a:solidFill>
                <a:srgbClr val="4A4A4A"/>
              </a:solidFill>
              <a:effectLst/>
              <a:latin typeface="Noto Sans" panose="020B0502040504020204" pitchFamily="34" charset="0"/>
            </a:endParaRPr>
          </a:p>
        </p:txBody>
      </p:sp>
    </p:spTree>
    <p:extLst>
      <p:ext uri="{BB962C8B-B14F-4D97-AF65-F5344CB8AC3E}">
        <p14:creationId xmlns:p14="http://schemas.microsoft.com/office/powerpoint/2010/main" val="1808811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F89FA-3E11-FF4A-96C2-671AEEF080CC}"/>
              </a:ext>
            </a:extLst>
          </p:cNvPr>
          <p:cNvSpPr>
            <a:spLocks noGrp="1"/>
          </p:cNvSpPr>
          <p:nvPr>
            <p:ph type="title"/>
          </p:nvPr>
        </p:nvSpPr>
        <p:spPr/>
        <p:txBody>
          <a:bodyPr/>
          <a:lstStyle/>
          <a:p>
            <a:r>
              <a:rPr lang="en-US" dirty="0"/>
              <a:t>2. Evaluation metrics</a:t>
            </a:r>
            <a:endParaRPr lang="vi-VN" dirty="0"/>
          </a:p>
        </p:txBody>
      </p:sp>
      <p:sp>
        <p:nvSpPr>
          <p:cNvPr id="3" name="Content Placeholder 2">
            <a:extLst>
              <a:ext uri="{FF2B5EF4-FFF2-40B4-BE49-F238E27FC236}">
                <a16:creationId xmlns:a16="http://schemas.microsoft.com/office/drawing/2014/main" id="{A12C8DAB-772E-3DE6-6741-FDD1C9E11F0D}"/>
              </a:ext>
            </a:extLst>
          </p:cNvPr>
          <p:cNvSpPr>
            <a:spLocks noGrp="1"/>
          </p:cNvSpPr>
          <p:nvPr>
            <p:ph idx="1"/>
          </p:nvPr>
        </p:nvSpPr>
        <p:spPr>
          <a:xfrm>
            <a:off x="838200" y="1825625"/>
            <a:ext cx="2016760" cy="511175"/>
          </a:xfrm>
        </p:spPr>
        <p:txBody>
          <a:bodyPr/>
          <a:lstStyle/>
          <a:p>
            <a:r>
              <a:rPr lang="en-US" dirty="0"/>
              <a:t>Rouge-L</a:t>
            </a:r>
          </a:p>
          <a:p>
            <a:pPr marL="0" indent="0">
              <a:buNone/>
            </a:pPr>
            <a:endParaRPr lang="vi-VN" dirty="0"/>
          </a:p>
        </p:txBody>
      </p:sp>
      <p:pic>
        <p:nvPicPr>
          <p:cNvPr id="1034" name="Picture 10" descr="Methods in Evaluating Foundation Model Performance - Tutorials Dojo">
            <a:extLst>
              <a:ext uri="{FF2B5EF4-FFF2-40B4-BE49-F238E27FC236}">
                <a16:creationId xmlns:a16="http://schemas.microsoft.com/office/drawing/2014/main" id="{FC937959-F5FF-E089-618C-26C315DF71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5220" y="2661604"/>
            <a:ext cx="6728460" cy="37191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0675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F89FA-3E11-FF4A-96C2-671AEEF080CC}"/>
              </a:ext>
            </a:extLst>
          </p:cNvPr>
          <p:cNvSpPr>
            <a:spLocks noGrp="1"/>
          </p:cNvSpPr>
          <p:nvPr>
            <p:ph type="title"/>
          </p:nvPr>
        </p:nvSpPr>
        <p:spPr/>
        <p:txBody>
          <a:bodyPr/>
          <a:lstStyle/>
          <a:p>
            <a:r>
              <a:rPr lang="en-US" dirty="0"/>
              <a:t>2. Evaluation metrics</a:t>
            </a:r>
            <a:endParaRPr lang="vi-VN" dirty="0"/>
          </a:p>
        </p:txBody>
      </p:sp>
      <p:sp>
        <p:nvSpPr>
          <p:cNvPr id="3" name="Content Placeholder 2">
            <a:extLst>
              <a:ext uri="{FF2B5EF4-FFF2-40B4-BE49-F238E27FC236}">
                <a16:creationId xmlns:a16="http://schemas.microsoft.com/office/drawing/2014/main" id="{A12C8DAB-772E-3DE6-6741-FDD1C9E11F0D}"/>
              </a:ext>
            </a:extLst>
          </p:cNvPr>
          <p:cNvSpPr>
            <a:spLocks noGrp="1"/>
          </p:cNvSpPr>
          <p:nvPr>
            <p:ph idx="1"/>
          </p:nvPr>
        </p:nvSpPr>
        <p:spPr>
          <a:xfrm>
            <a:off x="838200" y="1825625"/>
            <a:ext cx="10378440" cy="3863975"/>
          </a:xfrm>
        </p:spPr>
        <p:txBody>
          <a:bodyPr>
            <a:noAutofit/>
          </a:bodyPr>
          <a:lstStyle/>
          <a:p>
            <a:r>
              <a:rPr lang="en-US" sz="2400" dirty="0" err="1">
                <a:latin typeface="Arial" panose="020B0604020202020204" pitchFamily="34" charset="0"/>
                <a:cs typeface="Arial" panose="020B0604020202020204" pitchFamily="34" charset="0"/>
              </a:rPr>
              <a:t>RougeL</a:t>
            </a:r>
            <a:r>
              <a:rPr lang="en-US" sz="2400" dirty="0">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Dựa trên chuỗi con chung dài nhất (LCS) giữa đầu ra mô hình và tham chiếu, tức là chuỗi từ dài nhất (không nhất thiết phải liên tiếp nhưng vẫn theo thứ tự) giống nhau giữa cả hai chia cho số lượng từ trong câu được sinh ra</a:t>
            </a:r>
          </a:p>
          <a:p>
            <a:pPr marL="457200" lvl="1" indent="0">
              <a:buNone/>
            </a:pPr>
            <a:r>
              <a:rPr lang="vi-VN" dirty="0">
                <a:latin typeface="Arial" panose="020B0604020202020204" pitchFamily="34" charset="0"/>
                <a:cs typeface="Arial" panose="020B0604020202020204" pitchFamily="34" charset="0"/>
              </a:rPr>
              <a:t>=&gt; Trình tự trùng lặp dài hơn sẽ biểu thị nhiều điểm giống nhau hơn giữa hai trình tự.</a:t>
            </a:r>
            <a:endParaRPr lang="en-US"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Accuracy: </a:t>
            </a:r>
            <a:r>
              <a:rPr lang="vi-VN" sz="2400" dirty="0">
                <a:latin typeface="Arial" panose="020B0604020202020204" pitchFamily="34" charset="0"/>
                <a:cs typeface="Arial" panose="020B0604020202020204" pitchFamily="34" charset="0"/>
              </a:rPr>
              <a:t>tính cosine similarity dựa trên embedding của answer &amp; ground truth</a:t>
            </a:r>
          </a:p>
          <a:p>
            <a:r>
              <a:rPr lang="vi-VN" sz="2400" dirty="0">
                <a:latin typeface="Arial" panose="020B0604020202020204" pitchFamily="34" charset="0"/>
                <a:cs typeface="Arial" panose="020B0604020202020204" pitchFamily="34" charset="0"/>
              </a:rPr>
              <a:t>Coverage: sử dụng LLM để đánh giá mức độ ngữ cảnh truy xuất trả lời được câu hỏi, ngữ cảnh có đủ thông tin trả lời câu hỏi hay không</a:t>
            </a:r>
          </a:p>
          <a:p>
            <a:r>
              <a:rPr lang="vi-VN" sz="2400" dirty="0">
                <a:latin typeface="Arial" panose="020B0604020202020204" pitchFamily="34" charset="0"/>
                <a:cs typeface="Arial" panose="020B0604020202020204" pitchFamily="34" charset="0"/>
              </a:rPr>
              <a:t>Faithfulnes: sử dụng LLM đánh giá độ trung thực của câu trả lời (no hallucinations) so với retrieved context</a:t>
            </a:r>
          </a:p>
          <a:p>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74189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217F1-E931-C8B2-501C-795743FCC63F}"/>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34E8BF72-9BA9-4B16-230D-75C10DB3E2D1}"/>
              </a:ext>
            </a:extLst>
          </p:cNvPr>
          <p:cNvSpPr>
            <a:spLocks noGrp="1"/>
          </p:cNvSpPr>
          <p:nvPr>
            <p:ph idx="1"/>
          </p:nvPr>
        </p:nvSpPr>
        <p:spPr>
          <a:xfrm>
            <a:off x="838200" y="1825625"/>
            <a:ext cx="5735320" cy="4158615"/>
          </a:xfrm>
        </p:spPr>
        <p:txBody>
          <a:bodyPr>
            <a:normAutofit/>
          </a:bodyPr>
          <a:lstStyle/>
          <a:p>
            <a:r>
              <a:rPr lang="en-US" sz="2400" dirty="0" err="1"/>
              <a:t>DeepSeek</a:t>
            </a:r>
            <a:r>
              <a:rPr lang="en-US" sz="2400" dirty="0"/>
              <a:t> R1(no RAG)</a:t>
            </a:r>
          </a:p>
          <a:p>
            <a:pPr lvl="1"/>
            <a:r>
              <a:rPr lang="en-US" dirty="0"/>
              <a:t>Fact Retrieval:</a:t>
            </a:r>
          </a:p>
          <a:p>
            <a:pPr lvl="2"/>
            <a:r>
              <a:rPr lang="en-US" sz="2400" dirty="0" err="1"/>
              <a:t>RougeL</a:t>
            </a:r>
            <a:r>
              <a:rPr lang="en-US" sz="2400" dirty="0"/>
              <a:t>: 0.11</a:t>
            </a:r>
          </a:p>
          <a:p>
            <a:pPr lvl="2"/>
            <a:r>
              <a:rPr lang="en-US" sz="2400" dirty="0"/>
              <a:t>Accuracy: 0.28</a:t>
            </a:r>
          </a:p>
          <a:p>
            <a:pPr lvl="1"/>
            <a:r>
              <a:rPr lang="en-US" dirty="0"/>
              <a:t>Contextual summarize:</a:t>
            </a:r>
          </a:p>
          <a:p>
            <a:pPr lvl="2"/>
            <a:r>
              <a:rPr lang="en-US" sz="2400" dirty="0"/>
              <a:t>Accuracy: 0.27</a:t>
            </a:r>
          </a:p>
          <a:p>
            <a:pPr lvl="2"/>
            <a:r>
              <a:rPr lang="en-US" sz="2400" dirty="0" err="1"/>
              <a:t>Couverage</a:t>
            </a:r>
            <a:r>
              <a:rPr lang="en-US" sz="2400" dirty="0"/>
              <a:t>: 0.1</a:t>
            </a:r>
          </a:p>
          <a:p>
            <a:pPr lvl="1"/>
            <a:endParaRPr lang="en-US" dirty="0"/>
          </a:p>
        </p:txBody>
      </p:sp>
      <p:sp>
        <p:nvSpPr>
          <p:cNvPr id="4" name="TextBox 3">
            <a:extLst>
              <a:ext uri="{FF2B5EF4-FFF2-40B4-BE49-F238E27FC236}">
                <a16:creationId xmlns:a16="http://schemas.microsoft.com/office/drawing/2014/main" id="{1E282D53-F901-E2B8-FA13-D321FD63F64B}"/>
              </a:ext>
            </a:extLst>
          </p:cNvPr>
          <p:cNvSpPr txBox="1"/>
          <p:nvPr/>
        </p:nvSpPr>
        <p:spPr>
          <a:xfrm>
            <a:off x="5049520" y="2336800"/>
            <a:ext cx="3583738" cy="2677656"/>
          </a:xfrm>
          <a:prstGeom prst="rect">
            <a:avLst/>
          </a:prstGeom>
          <a:noFill/>
        </p:spPr>
        <p:txBody>
          <a:bodyPr wrap="none" rtlCol="0">
            <a:spAutoFit/>
          </a:bodyPr>
          <a:lstStyle/>
          <a:p>
            <a:pPr marL="742950" lvl="1" indent="-285750">
              <a:buFont typeface="Arial" panose="020B0604020202020204" pitchFamily="34" charset="0"/>
              <a:buChar char="•"/>
            </a:pPr>
            <a:r>
              <a:rPr lang="en-US" sz="2400" dirty="0"/>
              <a:t>Complex reasoning:</a:t>
            </a:r>
          </a:p>
          <a:p>
            <a:pPr marL="1200150" lvl="2" indent="-285750">
              <a:buFont typeface="Arial" panose="020B0604020202020204" pitchFamily="34" charset="0"/>
              <a:buChar char="•"/>
            </a:pPr>
            <a:r>
              <a:rPr lang="en-US" sz="2400" dirty="0"/>
              <a:t>Rouge-L: 0.05</a:t>
            </a:r>
          </a:p>
          <a:p>
            <a:pPr marL="1200150" lvl="2" indent="-285750">
              <a:buFont typeface="Arial" panose="020B0604020202020204" pitchFamily="34" charset="0"/>
              <a:buChar char="•"/>
            </a:pPr>
            <a:r>
              <a:rPr lang="en-US" sz="2400" dirty="0"/>
              <a:t>Accuracy: 0.25</a:t>
            </a:r>
          </a:p>
          <a:p>
            <a:pPr marL="742950" lvl="1" indent="-285750">
              <a:buFont typeface="Arial" panose="020B0604020202020204" pitchFamily="34" charset="0"/>
              <a:buChar char="•"/>
            </a:pPr>
            <a:r>
              <a:rPr lang="en-US" sz="2400" dirty="0"/>
              <a:t>Creative Generation</a:t>
            </a:r>
          </a:p>
          <a:p>
            <a:pPr marL="1200150" lvl="2" indent="-285750">
              <a:buFont typeface="Arial" panose="020B0604020202020204" pitchFamily="34" charset="0"/>
              <a:buChar char="•"/>
            </a:pPr>
            <a:r>
              <a:rPr lang="en-US" sz="2400" dirty="0"/>
              <a:t>Accuracy: 0.39</a:t>
            </a:r>
          </a:p>
          <a:p>
            <a:pPr marL="1200150" lvl="2" indent="-285750">
              <a:buFont typeface="Arial" panose="020B0604020202020204" pitchFamily="34" charset="0"/>
              <a:buChar char="•"/>
            </a:pPr>
            <a:r>
              <a:rPr lang="en-US" sz="2400" dirty="0"/>
              <a:t>Coverage: 0.16</a:t>
            </a:r>
          </a:p>
          <a:p>
            <a:pPr marL="1200150" lvl="2"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2999417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83B65-C54A-5A29-A758-C5AB6B49C310}"/>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CEBA49E4-84BD-9216-0873-83BEAE442A53}"/>
              </a:ext>
            </a:extLst>
          </p:cNvPr>
          <p:cNvSpPr>
            <a:spLocks noGrp="1"/>
          </p:cNvSpPr>
          <p:nvPr>
            <p:ph idx="1"/>
          </p:nvPr>
        </p:nvSpPr>
        <p:spPr/>
        <p:txBody>
          <a:bodyPr>
            <a:normAutofit/>
          </a:bodyPr>
          <a:lstStyle/>
          <a:p>
            <a:r>
              <a:rPr lang="en-US" sz="2400" dirty="0">
                <a:latin typeface="+mj-lt"/>
              </a:rPr>
              <a:t>RAG</a:t>
            </a:r>
          </a:p>
          <a:p>
            <a:pPr lvl="1"/>
            <a:r>
              <a:rPr lang="en-US" dirty="0">
                <a:latin typeface="+mj-lt"/>
              </a:rPr>
              <a:t>QA model: </a:t>
            </a:r>
            <a:r>
              <a:rPr lang="en-US" dirty="0" err="1">
                <a:latin typeface="+mj-lt"/>
              </a:rPr>
              <a:t>DeepSeek</a:t>
            </a:r>
            <a:r>
              <a:rPr lang="en-US" dirty="0">
                <a:latin typeface="+mj-lt"/>
              </a:rPr>
              <a:t> R1</a:t>
            </a:r>
          </a:p>
          <a:p>
            <a:pPr lvl="1"/>
            <a:r>
              <a:rPr lang="en-US" dirty="0">
                <a:latin typeface="+mj-lt"/>
              </a:rPr>
              <a:t>Embedding model: </a:t>
            </a:r>
            <a:r>
              <a:rPr lang="en-US" dirty="0">
                <a:solidFill>
                  <a:srgbClr val="000000"/>
                </a:solidFill>
                <a:latin typeface="+mj-lt"/>
                <a:ea typeface="Montserrat"/>
                <a:cs typeface="Montserrat"/>
                <a:sym typeface="Montserrat"/>
              </a:rPr>
              <a:t>BAAI/bge-large-en-v1.5</a:t>
            </a:r>
          </a:p>
          <a:p>
            <a:pPr lvl="1"/>
            <a:r>
              <a:rPr lang="en-US" dirty="0">
                <a:solidFill>
                  <a:srgbClr val="000000"/>
                </a:solidFill>
                <a:latin typeface="+mj-lt"/>
                <a:ea typeface="Montserrat"/>
                <a:cs typeface="Montserrat"/>
                <a:sym typeface="Montserrat"/>
              </a:rPr>
              <a:t>Top k = 5</a:t>
            </a:r>
          </a:p>
          <a:p>
            <a:pPr lvl="1"/>
            <a:r>
              <a:rPr lang="en-US" dirty="0">
                <a:solidFill>
                  <a:srgbClr val="000000"/>
                </a:solidFill>
                <a:latin typeface="+mj-lt"/>
                <a:ea typeface="Montserrat"/>
                <a:cs typeface="Montserrat"/>
                <a:sym typeface="Montserrat"/>
              </a:rPr>
              <a:t>Embedding dim=1024</a:t>
            </a:r>
          </a:p>
          <a:p>
            <a:pPr lvl="1"/>
            <a:r>
              <a:rPr lang="en-US" dirty="0">
                <a:solidFill>
                  <a:srgbClr val="000000"/>
                </a:solidFill>
                <a:latin typeface="+mj-lt"/>
                <a:ea typeface="Montserrat"/>
                <a:cs typeface="Montserrat"/>
                <a:sym typeface="Montserrat"/>
              </a:rPr>
              <a:t>Max token input size for embedding model=8192</a:t>
            </a:r>
          </a:p>
          <a:p>
            <a:endParaRPr lang="en-US" sz="2400" dirty="0">
              <a:solidFill>
                <a:srgbClr val="000000"/>
              </a:solidFill>
              <a:latin typeface="+mj-lt"/>
              <a:ea typeface="Montserrat"/>
              <a:cs typeface="Montserrat"/>
              <a:sym typeface="Montserrat"/>
            </a:endParaRPr>
          </a:p>
          <a:p>
            <a:endParaRPr lang="vi-VN" sz="2400" dirty="0"/>
          </a:p>
        </p:txBody>
      </p:sp>
    </p:spTree>
    <p:extLst>
      <p:ext uri="{BB962C8B-B14F-4D97-AF65-F5344CB8AC3E}">
        <p14:creationId xmlns:p14="http://schemas.microsoft.com/office/powerpoint/2010/main" val="4072152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83B65-C54A-5A29-A758-C5AB6B49C310}"/>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CEBA49E4-84BD-9216-0873-83BEAE442A53}"/>
              </a:ext>
            </a:extLst>
          </p:cNvPr>
          <p:cNvSpPr>
            <a:spLocks noGrp="1"/>
          </p:cNvSpPr>
          <p:nvPr>
            <p:ph idx="1"/>
          </p:nvPr>
        </p:nvSpPr>
        <p:spPr/>
        <p:txBody>
          <a:bodyPr>
            <a:normAutofit/>
          </a:bodyPr>
          <a:lstStyle/>
          <a:p>
            <a:r>
              <a:rPr lang="en-US" sz="2400" dirty="0" err="1">
                <a:latin typeface="+mj-lt"/>
              </a:rPr>
              <a:t>LightRAG</a:t>
            </a:r>
            <a:endParaRPr lang="en-US" sz="2400" dirty="0">
              <a:latin typeface="+mj-lt"/>
            </a:endParaRPr>
          </a:p>
          <a:p>
            <a:pPr lvl="1"/>
            <a:r>
              <a:rPr lang="en-US" dirty="0">
                <a:latin typeface="+mj-lt"/>
              </a:rPr>
              <a:t>QA model: </a:t>
            </a:r>
            <a:r>
              <a:rPr lang="en-US" dirty="0" err="1">
                <a:latin typeface="+mj-lt"/>
              </a:rPr>
              <a:t>DeepSeek</a:t>
            </a:r>
            <a:r>
              <a:rPr lang="en-US" dirty="0">
                <a:latin typeface="+mj-lt"/>
              </a:rPr>
              <a:t> R1</a:t>
            </a:r>
          </a:p>
          <a:p>
            <a:pPr lvl="1"/>
            <a:r>
              <a:rPr lang="en-US" dirty="0">
                <a:latin typeface="+mj-lt"/>
              </a:rPr>
              <a:t>Embedding model: </a:t>
            </a:r>
            <a:r>
              <a:rPr lang="en-US" dirty="0">
                <a:solidFill>
                  <a:srgbClr val="000000"/>
                </a:solidFill>
                <a:latin typeface="+mj-lt"/>
                <a:ea typeface="Montserrat"/>
                <a:cs typeface="Montserrat"/>
                <a:sym typeface="Montserrat"/>
              </a:rPr>
              <a:t>BAAI/bge-large-en-v1.5</a:t>
            </a:r>
          </a:p>
          <a:p>
            <a:pPr lvl="1"/>
            <a:r>
              <a:rPr lang="en-US" dirty="0">
                <a:solidFill>
                  <a:srgbClr val="000000"/>
                </a:solidFill>
                <a:latin typeface="+mj-lt"/>
                <a:ea typeface="Montserrat"/>
                <a:cs typeface="Montserrat"/>
                <a:sym typeface="Montserrat"/>
              </a:rPr>
              <a:t>Top k = 5</a:t>
            </a:r>
          </a:p>
          <a:p>
            <a:pPr lvl="1"/>
            <a:r>
              <a:rPr lang="en-US" dirty="0">
                <a:solidFill>
                  <a:srgbClr val="000000"/>
                </a:solidFill>
                <a:latin typeface="+mj-lt"/>
                <a:ea typeface="Montserrat"/>
                <a:cs typeface="Montserrat"/>
                <a:sym typeface="Montserrat"/>
              </a:rPr>
              <a:t>Embedding dim=1024</a:t>
            </a:r>
          </a:p>
          <a:p>
            <a:pPr lvl="1"/>
            <a:r>
              <a:rPr lang="en-US" dirty="0">
                <a:solidFill>
                  <a:srgbClr val="000000"/>
                </a:solidFill>
                <a:latin typeface="+mj-lt"/>
                <a:ea typeface="Montserrat"/>
                <a:cs typeface="Montserrat"/>
                <a:sym typeface="Montserrat"/>
              </a:rPr>
              <a:t>Max token input size for embedding model=8192</a:t>
            </a:r>
          </a:p>
          <a:p>
            <a:pPr marL="457200" lvl="1" indent="0">
              <a:buNone/>
            </a:pPr>
            <a:endParaRPr lang="vi-VN" dirty="0"/>
          </a:p>
        </p:txBody>
      </p:sp>
    </p:spTree>
    <p:extLst>
      <p:ext uri="{BB962C8B-B14F-4D97-AF65-F5344CB8AC3E}">
        <p14:creationId xmlns:p14="http://schemas.microsoft.com/office/powerpoint/2010/main" val="3679072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217F1-E931-C8B2-501C-795743FCC63F}"/>
              </a:ext>
            </a:extLst>
          </p:cNvPr>
          <p:cNvSpPr>
            <a:spLocks noGrp="1"/>
          </p:cNvSpPr>
          <p:nvPr>
            <p:ph type="title"/>
          </p:nvPr>
        </p:nvSpPr>
        <p:spPr/>
        <p:txBody>
          <a:bodyPr/>
          <a:lstStyle/>
          <a:p>
            <a:r>
              <a:rPr lang="en-US" dirty="0"/>
              <a:t>3. Experiments</a:t>
            </a:r>
            <a:endParaRPr lang="vi-VN" dirty="0"/>
          </a:p>
        </p:txBody>
      </p:sp>
      <p:pic>
        <p:nvPicPr>
          <p:cNvPr id="1028" name="Picture 4">
            <a:extLst>
              <a:ext uri="{FF2B5EF4-FFF2-40B4-BE49-F238E27FC236}">
                <a16:creationId xmlns:a16="http://schemas.microsoft.com/office/drawing/2014/main" id="{B23BCF48-48FF-4A9E-7749-40B6E44BA7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5887" y="1238250"/>
            <a:ext cx="9420225" cy="561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1800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217F1-E931-C8B2-501C-795743FCC63F}"/>
              </a:ext>
            </a:extLst>
          </p:cNvPr>
          <p:cNvSpPr>
            <a:spLocks noGrp="1"/>
          </p:cNvSpPr>
          <p:nvPr>
            <p:ph type="title"/>
          </p:nvPr>
        </p:nvSpPr>
        <p:spPr/>
        <p:txBody>
          <a:bodyPr/>
          <a:lstStyle/>
          <a:p>
            <a:r>
              <a:rPr lang="en-US" dirty="0"/>
              <a:t>3. Experiments</a:t>
            </a:r>
            <a:endParaRPr lang="vi-VN" dirty="0"/>
          </a:p>
        </p:txBody>
      </p:sp>
      <p:pic>
        <p:nvPicPr>
          <p:cNvPr id="2052" name="Picture 4">
            <a:extLst>
              <a:ext uri="{FF2B5EF4-FFF2-40B4-BE49-F238E27FC236}">
                <a16:creationId xmlns:a16="http://schemas.microsoft.com/office/drawing/2014/main" id="{D1157CE5-692C-864B-C686-0B8176B9C8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5887" y="1238250"/>
            <a:ext cx="9420225" cy="561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3039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217F1-E931-C8B2-501C-795743FCC63F}"/>
              </a:ext>
            </a:extLst>
          </p:cNvPr>
          <p:cNvSpPr>
            <a:spLocks noGrp="1"/>
          </p:cNvSpPr>
          <p:nvPr>
            <p:ph type="title"/>
          </p:nvPr>
        </p:nvSpPr>
        <p:spPr/>
        <p:txBody>
          <a:bodyPr/>
          <a:lstStyle/>
          <a:p>
            <a:r>
              <a:rPr lang="en-US" dirty="0"/>
              <a:t>3. Experiments</a:t>
            </a:r>
            <a:endParaRPr lang="vi-VN" dirty="0"/>
          </a:p>
        </p:txBody>
      </p:sp>
      <p:pic>
        <p:nvPicPr>
          <p:cNvPr id="3076" name="Picture 4">
            <a:extLst>
              <a:ext uri="{FF2B5EF4-FFF2-40B4-BE49-F238E27FC236}">
                <a16:creationId xmlns:a16="http://schemas.microsoft.com/office/drawing/2014/main" id="{C0820A9D-C052-4F90-0319-90BAAF6F64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5887" y="1238250"/>
            <a:ext cx="9420225" cy="561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6735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217F1-E931-C8B2-501C-795743FCC63F}"/>
              </a:ext>
            </a:extLst>
          </p:cNvPr>
          <p:cNvSpPr>
            <a:spLocks noGrp="1"/>
          </p:cNvSpPr>
          <p:nvPr>
            <p:ph type="title"/>
          </p:nvPr>
        </p:nvSpPr>
        <p:spPr/>
        <p:txBody>
          <a:bodyPr/>
          <a:lstStyle/>
          <a:p>
            <a:r>
              <a:rPr lang="en-US" dirty="0"/>
              <a:t>3. Experiments</a:t>
            </a:r>
            <a:endParaRPr lang="vi-VN" dirty="0"/>
          </a:p>
        </p:txBody>
      </p:sp>
      <p:pic>
        <p:nvPicPr>
          <p:cNvPr id="4100" name="Picture 4">
            <a:extLst>
              <a:ext uri="{FF2B5EF4-FFF2-40B4-BE49-F238E27FC236}">
                <a16:creationId xmlns:a16="http://schemas.microsoft.com/office/drawing/2014/main" id="{F3D565F4-5ABD-DA6B-75B3-6FB994D6EF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5887" y="1238250"/>
            <a:ext cx="9420225" cy="561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1966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50063-A836-7997-971B-FA9CA9CB42A4}"/>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A78D07F6-CB0C-EF57-9518-4BDC48A4CC21}"/>
              </a:ext>
            </a:extLst>
          </p:cNvPr>
          <p:cNvSpPr>
            <a:spLocks noGrp="1"/>
          </p:cNvSpPr>
          <p:nvPr>
            <p:ph idx="1"/>
          </p:nvPr>
        </p:nvSpPr>
        <p:spPr/>
        <p:txBody>
          <a:bodyPr>
            <a:normAutofit/>
          </a:bodyPr>
          <a:lstStyle/>
          <a:p>
            <a:r>
              <a:rPr lang="vi-VN" sz="2400" dirty="0"/>
              <a:t>Tại sao coverage của RAG lại cao hơn LightRAG chỉ với contextual summerize ?</a:t>
            </a:r>
          </a:p>
          <a:p>
            <a:pPr lvl="1"/>
            <a:r>
              <a:rPr lang="vi-VN" dirty="0"/>
              <a:t>Kiểm thử vài trăm mẫu -&gt; câu trả lời của RAG luôn dài hơn gấp vài lần so với LightRAG</a:t>
            </a:r>
          </a:p>
          <a:p>
            <a:pPr lvl="1"/>
            <a:r>
              <a:rPr lang="vi-VN" dirty="0"/>
              <a:t>Accuracy LightRAG vẫn xấp xỉ so với RAG</a:t>
            </a:r>
          </a:p>
          <a:p>
            <a:r>
              <a:rPr lang="vi-VN" sz="2400" dirty="0"/>
              <a:t> Vậy câu trả lời của RAG có thực sự trọng tâm, hay chỉ nói lan man xung quanh điểm đó ?</a:t>
            </a:r>
          </a:p>
          <a:p>
            <a:pPr lvl="1"/>
            <a:r>
              <a:rPr lang="vi-VN" dirty="0"/>
              <a:t>Context của RAG có thực sự truy xuất trọng tâm, hay là nó truy xuất tất cả những thứ có vẻ liên quan đến ?</a:t>
            </a:r>
          </a:p>
          <a:p>
            <a:pPr lvl="1"/>
            <a:endParaRPr lang="vi-VN" dirty="0"/>
          </a:p>
          <a:p>
            <a:pPr lvl="1"/>
            <a:endParaRPr lang="vi-VN" dirty="0"/>
          </a:p>
        </p:txBody>
      </p:sp>
    </p:spTree>
    <p:extLst>
      <p:ext uri="{BB962C8B-B14F-4D97-AF65-F5344CB8AC3E}">
        <p14:creationId xmlns:p14="http://schemas.microsoft.com/office/powerpoint/2010/main" val="3588876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66BD7-9224-6A7F-567E-D1D126E56ED1}"/>
              </a:ext>
            </a:extLst>
          </p:cNvPr>
          <p:cNvSpPr>
            <a:spLocks noGrp="1"/>
          </p:cNvSpPr>
          <p:nvPr>
            <p:ph type="title"/>
          </p:nvPr>
        </p:nvSpPr>
        <p:spPr/>
        <p:txBody>
          <a:bodyPr/>
          <a:lstStyle/>
          <a:p>
            <a:r>
              <a:rPr lang="en-US" dirty="0"/>
              <a:t>Context Analysis</a:t>
            </a:r>
            <a:endParaRPr lang="vi-VN" dirty="0"/>
          </a:p>
        </p:txBody>
      </p:sp>
      <p:sp>
        <p:nvSpPr>
          <p:cNvPr id="3" name="Content Placeholder 2">
            <a:extLst>
              <a:ext uri="{FF2B5EF4-FFF2-40B4-BE49-F238E27FC236}">
                <a16:creationId xmlns:a16="http://schemas.microsoft.com/office/drawing/2014/main" id="{9F2D3C6D-72E5-E636-EEC8-A24DA2FCEF32}"/>
              </a:ext>
            </a:extLst>
          </p:cNvPr>
          <p:cNvSpPr>
            <a:spLocks noGrp="1"/>
          </p:cNvSpPr>
          <p:nvPr>
            <p:ph idx="1"/>
          </p:nvPr>
        </p:nvSpPr>
        <p:spPr>
          <a:xfrm>
            <a:off x="838200" y="1584960"/>
            <a:ext cx="10515600" cy="4592003"/>
          </a:xfrm>
        </p:spPr>
        <p:txBody>
          <a:bodyPr>
            <a:noAutofit/>
          </a:bodyPr>
          <a:lstStyle/>
          <a:p>
            <a:pPr marL="0" indent="0">
              <a:buNone/>
            </a:pPr>
            <a:r>
              <a:rPr lang="vi-VN" sz="2400" dirty="0"/>
              <a:t>Phân</a:t>
            </a:r>
            <a:r>
              <a:rPr lang="en-US" sz="2400" dirty="0"/>
              <a:t> </a:t>
            </a:r>
            <a:r>
              <a:rPr lang="vi-VN" sz="2400" dirty="0"/>
              <a:t>tích</a:t>
            </a:r>
            <a:r>
              <a:rPr lang="en-US" sz="2400" dirty="0"/>
              <a:t> 2062 </a:t>
            </a:r>
            <a:r>
              <a:rPr lang="vi-VN" sz="2400" dirty="0"/>
              <a:t>câu hỏi không có evidence</a:t>
            </a:r>
            <a:endParaRPr lang="en-US" sz="2400" dirty="0"/>
          </a:p>
          <a:p>
            <a:pPr lvl="1"/>
            <a:endParaRPr lang="en-US" sz="2000" dirty="0"/>
          </a:p>
          <a:p>
            <a:pPr lvl="1"/>
            <a:r>
              <a:rPr lang="en-US" sz="2000" dirty="0" err="1"/>
              <a:t>LightRAG</a:t>
            </a:r>
            <a:r>
              <a:rPr lang="en-US" sz="2000" dirty="0"/>
              <a:t>: 1833 </a:t>
            </a:r>
            <a:r>
              <a:rPr lang="vi-VN" sz="2000" dirty="0"/>
              <a:t>câu trả lời không có context</a:t>
            </a:r>
            <a:endParaRPr lang="en-US" sz="2000" dirty="0"/>
          </a:p>
          <a:p>
            <a:pPr lvl="2"/>
            <a:r>
              <a:rPr lang="vi-VN" dirty="0"/>
              <a:t>Vì không có evidence</a:t>
            </a:r>
          </a:p>
          <a:p>
            <a:pPr lvl="2"/>
            <a:r>
              <a:rPr lang="vi-VN" dirty="0"/>
              <a:t>Còn lại 2062 – 1833 = 229 câu hỏi không có evidence mà vẫn truy xuất được context</a:t>
            </a:r>
          </a:p>
          <a:p>
            <a:pPr marL="1371600" lvl="3" indent="0">
              <a:buNone/>
            </a:pPr>
            <a:r>
              <a:rPr lang="vi-VN" sz="2000" dirty="0"/>
              <a:t>=&gt; vậy 229 context này là tri thức có ích, hay là nhiễu ?</a:t>
            </a:r>
          </a:p>
          <a:p>
            <a:pPr lvl="3"/>
            <a:r>
              <a:rPr lang="vi-VN" sz="2000" dirty="0"/>
              <a:t>Creative Generation: 166</a:t>
            </a:r>
          </a:p>
          <a:p>
            <a:pPr lvl="3"/>
            <a:r>
              <a:rPr lang="vi-VN" sz="2000" dirty="0"/>
              <a:t>Contextual summerize: 63</a:t>
            </a:r>
          </a:p>
          <a:p>
            <a:pPr marL="1371600" lvl="3" indent="0">
              <a:buNone/>
            </a:pPr>
            <a:r>
              <a:rPr lang="vi-VN" sz="2000" dirty="0"/>
              <a:t>	</a:t>
            </a:r>
          </a:p>
          <a:p>
            <a:pPr lvl="1"/>
            <a:r>
              <a:rPr lang="vi-VN" sz="2000" dirty="0"/>
              <a:t>RAG vẫn cung cấp context (ranking similarity) cho toàn bộ câu dù chúng không hề có envidence</a:t>
            </a:r>
          </a:p>
          <a:p>
            <a:pPr marL="914400" lvl="2" indent="0">
              <a:buNone/>
            </a:pPr>
            <a:r>
              <a:rPr lang="vi-VN" dirty="0"/>
              <a:t>-&gt; Context này là tri thức có ích, hay là nhiễu ?</a:t>
            </a:r>
          </a:p>
        </p:txBody>
      </p:sp>
    </p:spTree>
    <p:extLst>
      <p:ext uri="{BB962C8B-B14F-4D97-AF65-F5344CB8AC3E}">
        <p14:creationId xmlns:p14="http://schemas.microsoft.com/office/powerpoint/2010/main" val="196932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66BD7-9224-6A7F-567E-D1D126E56ED1}"/>
              </a:ext>
            </a:extLst>
          </p:cNvPr>
          <p:cNvSpPr>
            <a:spLocks noGrp="1"/>
          </p:cNvSpPr>
          <p:nvPr>
            <p:ph type="title"/>
          </p:nvPr>
        </p:nvSpPr>
        <p:spPr/>
        <p:txBody>
          <a:bodyPr/>
          <a:lstStyle/>
          <a:p>
            <a:r>
              <a:rPr lang="en-US" dirty="0"/>
              <a:t>Context Analysis</a:t>
            </a:r>
            <a:endParaRPr lang="vi-VN" dirty="0"/>
          </a:p>
        </p:txBody>
      </p:sp>
      <p:sp>
        <p:nvSpPr>
          <p:cNvPr id="3" name="Content Placeholder 2">
            <a:extLst>
              <a:ext uri="{FF2B5EF4-FFF2-40B4-BE49-F238E27FC236}">
                <a16:creationId xmlns:a16="http://schemas.microsoft.com/office/drawing/2014/main" id="{9F2D3C6D-72E5-E636-EEC8-A24DA2FCEF32}"/>
              </a:ext>
            </a:extLst>
          </p:cNvPr>
          <p:cNvSpPr>
            <a:spLocks noGrp="1"/>
          </p:cNvSpPr>
          <p:nvPr>
            <p:ph idx="1"/>
          </p:nvPr>
        </p:nvSpPr>
        <p:spPr>
          <a:xfrm>
            <a:off x="838200" y="1690688"/>
            <a:ext cx="10515600" cy="4486275"/>
          </a:xfrm>
        </p:spPr>
        <p:txBody>
          <a:bodyPr>
            <a:noAutofit/>
          </a:bodyPr>
          <a:lstStyle/>
          <a:p>
            <a:pPr marL="0" indent="0">
              <a:buNone/>
            </a:pPr>
            <a:r>
              <a:rPr lang="vi-VN" sz="2000" dirty="0"/>
              <a:t>Phân tích 229 câu không có evidence, nhưng LightRAG lại trích xuất được context:</a:t>
            </a:r>
          </a:p>
          <a:p>
            <a:pPr lvl="1"/>
            <a:endParaRPr lang="vi-VN" sz="2000" dirty="0"/>
          </a:p>
          <a:p>
            <a:pPr marL="457200" lvl="1" indent="0">
              <a:buNone/>
            </a:pPr>
            <a:endParaRPr lang="en-US" sz="2000" dirty="0"/>
          </a:p>
        </p:txBody>
      </p:sp>
      <p:pic>
        <p:nvPicPr>
          <p:cNvPr id="4098" name="Picture 2">
            <a:extLst>
              <a:ext uri="{FF2B5EF4-FFF2-40B4-BE49-F238E27FC236}">
                <a16:creationId xmlns:a16="http://schemas.microsoft.com/office/drawing/2014/main" id="{8D40B773-C44C-66D1-2BCC-BBFF491AB4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875" y="2190750"/>
            <a:ext cx="6572250" cy="466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59636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66BD7-9224-6A7F-567E-D1D126E56ED1}"/>
              </a:ext>
            </a:extLst>
          </p:cNvPr>
          <p:cNvSpPr>
            <a:spLocks noGrp="1"/>
          </p:cNvSpPr>
          <p:nvPr>
            <p:ph type="title"/>
          </p:nvPr>
        </p:nvSpPr>
        <p:spPr/>
        <p:txBody>
          <a:bodyPr/>
          <a:lstStyle/>
          <a:p>
            <a:r>
              <a:rPr lang="en-US" dirty="0"/>
              <a:t>Context Analysis</a:t>
            </a:r>
            <a:endParaRPr lang="vi-VN" dirty="0"/>
          </a:p>
        </p:txBody>
      </p:sp>
      <p:sp>
        <p:nvSpPr>
          <p:cNvPr id="3" name="Content Placeholder 2">
            <a:extLst>
              <a:ext uri="{FF2B5EF4-FFF2-40B4-BE49-F238E27FC236}">
                <a16:creationId xmlns:a16="http://schemas.microsoft.com/office/drawing/2014/main" id="{9F2D3C6D-72E5-E636-EEC8-A24DA2FCEF32}"/>
              </a:ext>
            </a:extLst>
          </p:cNvPr>
          <p:cNvSpPr>
            <a:spLocks noGrp="1"/>
          </p:cNvSpPr>
          <p:nvPr>
            <p:ph idx="1"/>
          </p:nvPr>
        </p:nvSpPr>
        <p:spPr>
          <a:xfrm>
            <a:off x="838200" y="1690688"/>
            <a:ext cx="10515600" cy="4486275"/>
          </a:xfrm>
        </p:spPr>
        <p:txBody>
          <a:bodyPr>
            <a:noAutofit/>
          </a:bodyPr>
          <a:lstStyle/>
          <a:p>
            <a:pPr marL="0" indent="0">
              <a:buNone/>
            </a:pPr>
            <a:r>
              <a:rPr lang="vi-VN" sz="2000" dirty="0"/>
              <a:t>Phân tích 229 câu không có evidence, nhưng LightRAG lại trích xuất được context:</a:t>
            </a:r>
          </a:p>
          <a:p>
            <a:pPr lvl="1"/>
            <a:endParaRPr lang="vi-VN" sz="2000" dirty="0"/>
          </a:p>
          <a:p>
            <a:pPr marL="457200" lvl="1" indent="0">
              <a:buNone/>
            </a:pPr>
            <a:endParaRPr lang="en-US" sz="2000" dirty="0"/>
          </a:p>
        </p:txBody>
      </p:sp>
      <p:pic>
        <p:nvPicPr>
          <p:cNvPr id="5122" name="Picture 2">
            <a:extLst>
              <a:ext uri="{FF2B5EF4-FFF2-40B4-BE49-F238E27FC236}">
                <a16:creationId xmlns:a16="http://schemas.microsoft.com/office/drawing/2014/main" id="{2A0A7210-C5B2-980A-DA17-38AEF1F9A1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875" y="2190750"/>
            <a:ext cx="6572250" cy="466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83112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66BD7-9224-6A7F-567E-D1D126E56ED1}"/>
              </a:ext>
            </a:extLst>
          </p:cNvPr>
          <p:cNvSpPr>
            <a:spLocks noGrp="1"/>
          </p:cNvSpPr>
          <p:nvPr>
            <p:ph type="title"/>
          </p:nvPr>
        </p:nvSpPr>
        <p:spPr/>
        <p:txBody>
          <a:bodyPr/>
          <a:lstStyle/>
          <a:p>
            <a:r>
              <a:rPr lang="en-US" dirty="0"/>
              <a:t>Context Analysis</a:t>
            </a:r>
            <a:endParaRPr lang="vi-VN" dirty="0"/>
          </a:p>
        </p:txBody>
      </p:sp>
      <p:sp>
        <p:nvSpPr>
          <p:cNvPr id="3" name="Content Placeholder 2">
            <a:extLst>
              <a:ext uri="{FF2B5EF4-FFF2-40B4-BE49-F238E27FC236}">
                <a16:creationId xmlns:a16="http://schemas.microsoft.com/office/drawing/2014/main" id="{9F2D3C6D-72E5-E636-EEC8-A24DA2FCEF32}"/>
              </a:ext>
            </a:extLst>
          </p:cNvPr>
          <p:cNvSpPr>
            <a:spLocks noGrp="1"/>
          </p:cNvSpPr>
          <p:nvPr>
            <p:ph idx="1"/>
          </p:nvPr>
        </p:nvSpPr>
        <p:spPr>
          <a:xfrm>
            <a:off x="838200" y="1690688"/>
            <a:ext cx="10515600" cy="4486275"/>
          </a:xfrm>
        </p:spPr>
        <p:txBody>
          <a:bodyPr>
            <a:noAutofit/>
          </a:bodyPr>
          <a:lstStyle/>
          <a:p>
            <a:pPr marL="0" indent="0">
              <a:buNone/>
            </a:pPr>
            <a:r>
              <a:rPr lang="vi-VN" sz="2000" dirty="0"/>
              <a:t>Phân tích 229 câu không có evidence, nhưng LightRAG lại trích xuất được context:</a:t>
            </a:r>
          </a:p>
          <a:p>
            <a:pPr lvl="1"/>
            <a:endParaRPr lang="vi-VN" sz="2000" dirty="0"/>
          </a:p>
          <a:p>
            <a:pPr marL="457200" lvl="1" indent="0">
              <a:buNone/>
            </a:pPr>
            <a:endParaRPr lang="en-US" sz="2000" dirty="0"/>
          </a:p>
        </p:txBody>
      </p:sp>
      <p:pic>
        <p:nvPicPr>
          <p:cNvPr id="6146" name="Picture 2">
            <a:extLst>
              <a:ext uri="{FF2B5EF4-FFF2-40B4-BE49-F238E27FC236}">
                <a16:creationId xmlns:a16="http://schemas.microsoft.com/office/drawing/2014/main" id="{302911D6-47A1-CC2F-F2B9-5A39CD7564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875" y="2190750"/>
            <a:ext cx="6572250" cy="466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67105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1902B-92A8-B9DD-10AF-2CA9BC22F7C6}"/>
              </a:ext>
            </a:extLst>
          </p:cNvPr>
          <p:cNvSpPr>
            <a:spLocks noGrp="1"/>
          </p:cNvSpPr>
          <p:nvPr>
            <p:ph type="title"/>
          </p:nvPr>
        </p:nvSpPr>
        <p:spPr/>
        <p:txBody>
          <a:bodyPr/>
          <a:lstStyle/>
          <a:p>
            <a:r>
              <a:rPr lang="en-US" dirty="0"/>
              <a:t>Context Analysis</a:t>
            </a:r>
            <a:endParaRPr lang="vi-VN" dirty="0"/>
          </a:p>
        </p:txBody>
      </p:sp>
      <p:sp>
        <p:nvSpPr>
          <p:cNvPr id="3" name="Content Placeholder 2">
            <a:extLst>
              <a:ext uri="{FF2B5EF4-FFF2-40B4-BE49-F238E27FC236}">
                <a16:creationId xmlns:a16="http://schemas.microsoft.com/office/drawing/2014/main" id="{C0D3BB55-0020-45BB-A13E-D8DEC428B73C}"/>
              </a:ext>
            </a:extLst>
          </p:cNvPr>
          <p:cNvSpPr>
            <a:spLocks noGrp="1"/>
          </p:cNvSpPr>
          <p:nvPr>
            <p:ph idx="1"/>
          </p:nvPr>
        </p:nvSpPr>
        <p:spPr>
          <a:xfrm>
            <a:off x="838200" y="1690688"/>
            <a:ext cx="10515600" cy="4486275"/>
          </a:xfrm>
        </p:spPr>
        <p:txBody>
          <a:bodyPr>
            <a:noAutofit/>
          </a:bodyPr>
          <a:lstStyle/>
          <a:p>
            <a:pPr marL="0" indent="0">
              <a:buNone/>
            </a:pPr>
            <a:r>
              <a:rPr lang="vi-VN" sz="2000" dirty="0"/>
              <a:t>Phân tích 229 câu không có evidence, nhưng LightRAG lại trích xuất được context:</a:t>
            </a:r>
          </a:p>
          <a:p>
            <a:endParaRPr lang="vi-VN" sz="2000" dirty="0"/>
          </a:p>
          <a:p>
            <a:pPr lvl="1"/>
            <a:r>
              <a:rPr lang="vi-VN" sz="2000" dirty="0"/>
              <a:t>LightRAG có điểm faithfulness cao hơn RAG gần 10 lần. Điều này có nghĩa là, ngay cả khi không có evidence và phải xử lý một câu hỏi mở, context mà LightRAG tìm được vẫn đủ tốt và "chặt chẽ" để LLM bám vào đó và tạo ra câu trả lời. Ngược lại, RAG gần như hoàn toàn "bịa chuyện" (hallucinate) trong những trường hợp này. Context mà RAG cung cấp có lẽ rất nhiễu hoặc không liên quan, khiến LLM phải quay về sử dụng kiến thức nền của mình.</a:t>
            </a:r>
          </a:p>
          <a:p>
            <a:pPr lvl="1"/>
            <a:r>
              <a:rPr lang="vi-VN" sz="2000" dirty="0"/>
              <a:t>Vì LightRAG "trung thực" hơn, câu trả lời của nó cũng chính xác hơn (answer_correctness cao hơn 50%) và bao quát được nhiều thông tin hữu ích hơn (coverage_score cao hơn gấp đôi)</a:t>
            </a:r>
          </a:p>
          <a:p>
            <a:pPr lvl="1"/>
            <a:r>
              <a:rPr lang="vi-VN" sz="2000" dirty="0"/>
              <a:t>Đối với các câu hỏi sáng tạo, mở, LightRAG không chỉ tìm được bối cảnh liên quan mà còn giúp LLM tạo ra nội dung vừa sáng tạo vừa bám sát thực tế từ nguồn tài liệu, trong khi RAG thất bại nặng nề và sa vào việc bịa đặt.</a:t>
            </a:r>
          </a:p>
        </p:txBody>
      </p:sp>
    </p:spTree>
    <p:extLst>
      <p:ext uri="{BB962C8B-B14F-4D97-AF65-F5344CB8AC3E}">
        <p14:creationId xmlns:p14="http://schemas.microsoft.com/office/powerpoint/2010/main" val="34268310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1902B-92A8-B9DD-10AF-2CA9BC22F7C6}"/>
              </a:ext>
            </a:extLst>
          </p:cNvPr>
          <p:cNvSpPr>
            <a:spLocks noGrp="1"/>
          </p:cNvSpPr>
          <p:nvPr>
            <p:ph type="title"/>
          </p:nvPr>
        </p:nvSpPr>
        <p:spPr/>
        <p:txBody>
          <a:bodyPr/>
          <a:lstStyle/>
          <a:p>
            <a:r>
              <a:rPr lang="en-US" dirty="0"/>
              <a:t>Context Analysis</a:t>
            </a:r>
            <a:endParaRPr lang="vi-VN" dirty="0"/>
          </a:p>
        </p:txBody>
      </p:sp>
      <p:sp>
        <p:nvSpPr>
          <p:cNvPr id="3" name="Content Placeholder 2">
            <a:extLst>
              <a:ext uri="{FF2B5EF4-FFF2-40B4-BE49-F238E27FC236}">
                <a16:creationId xmlns:a16="http://schemas.microsoft.com/office/drawing/2014/main" id="{C0D3BB55-0020-45BB-A13E-D8DEC428B73C}"/>
              </a:ext>
            </a:extLst>
          </p:cNvPr>
          <p:cNvSpPr>
            <a:spLocks noGrp="1"/>
          </p:cNvSpPr>
          <p:nvPr>
            <p:ph idx="1"/>
          </p:nvPr>
        </p:nvSpPr>
        <p:spPr>
          <a:xfrm>
            <a:off x="838200" y="1690688"/>
            <a:ext cx="10515600" cy="4486275"/>
          </a:xfrm>
        </p:spPr>
        <p:txBody>
          <a:bodyPr>
            <a:noAutofit/>
          </a:bodyPr>
          <a:lstStyle/>
          <a:p>
            <a:pPr marL="0" indent="0">
              <a:buNone/>
            </a:pPr>
            <a:r>
              <a:rPr lang="vi-VN" sz="2000" dirty="0"/>
              <a:t>Phân tích 229 câu không có evidence, nhưng LightRAG lại trích xuất được context:</a:t>
            </a:r>
          </a:p>
          <a:p>
            <a:pPr lvl="1"/>
            <a:endParaRPr lang="vi-VN" sz="2000" dirty="0"/>
          </a:p>
          <a:p>
            <a:pPr lvl="1"/>
            <a:r>
              <a:rPr lang="vi-VN" sz="2000" dirty="0"/>
              <a:t>RAG "Bao Phủ" Rộng Hơn: coverage_score của RAG cao hơn gấp đôi so với LightRAG. Điều này có thể có nghĩa là RAG đã truy xuất được một lượng context lớn hơn, rộng hơn, bao phủ nhiều chủ đề con hơn. Nó có xu hướng "vơ vét" tất cả những gì có vẻ liên quan.</a:t>
            </a:r>
          </a:p>
          <a:p>
            <a:pPr lvl="1"/>
            <a:r>
              <a:rPr lang="vi-VN" sz="2000" dirty="0"/>
              <a:t>Nhưng "Bao Phủ" Không Đồng Nghĩa Với "Đúng": Mặc dù bao phủ rộng hơn, answer_correctness của RAG chỉ nhỉnh hơn một chút không đáng kể so với LightRAG (0.56 vs 0.54). Điều này cho thấy context rộng của RAG có thể chứa nhiều thông tin nhiễu, không thực sự giúp ích cho việc tạo ra một câu trả lời chính xác. Rất có thể nó chỉ liệt kê nhiều thông tin hơn là tóm tắt một cách thông minh.</a:t>
            </a:r>
          </a:p>
          <a:p>
            <a:pPr lvl="1"/>
            <a:r>
              <a:rPr lang="vi-VN" sz="2000" dirty="0"/>
              <a:t>LightRAG "Tập Trung" Hơn: coverage_score thấp hơn của LightRAG cho thấy nó có thể đã truy xuất một context nhỏ hơn, tập trung hơn vào các ý chính. Mặc dù bỏ lỡ một số ý phụ (dẫn đến coverage thấp), nhưng những gì nó cung cấp là cốt lõi và đủ để LLM tạo ra một câu trả lời có độ chính xác gần như tương đương.</a:t>
            </a:r>
          </a:p>
        </p:txBody>
      </p:sp>
    </p:spTree>
    <p:extLst>
      <p:ext uri="{BB962C8B-B14F-4D97-AF65-F5344CB8AC3E}">
        <p14:creationId xmlns:p14="http://schemas.microsoft.com/office/powerpoint/2010/main" val="1840809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1902B-92A8-B9DD-10AF-2CA9BC22F7C6}"/>
              </a:ext>
            </a:extLst>
          </p:cNvPr>
          <p:cNvSpPr>
            <a:spLocks noGrp="1"/>
          </p:cNvSpPr>
          <p:nvPr>
            <p:ph type="title"/>
          </p:nvPr>
        </p:nvSpPr>
        <p:spPr/>
        <p:txBody>
          <a:bodyPr/>
          <a:lstStyle/>
          <a:p>
            <a:r>
              <a:rPr lang="en-US" dirty="0"/>
              <a:t>Context Analysis</a:t>
            </a:r>
            <a:endParaRPr lang="vi-VN" dirty="0"/>
          </a:p>
        </p:txBody>
      </p:sp>
      <p:sp>
        <p:nvSpPr>
          <p:cNvPr id="3" name="Content Placeholder 2">
            <a:extLst>
              <a:ext uri="{FF2B5EF4-FFF2-40B4-BE49-F238E27FC236}">
                <a16:creationId xmlns:a16="http://schemas.microsoft.com/office/drawing/2014/main" id="{C0D3BB55-0020-45BB-A13E-D8DEC428B73C}"/>
              </a:ext>
            </a:extLst>
          </p:cNvPr>
          <p:cNvSpPr>
            <a:spLocks noGrp="1"/>
          </p:cNvSpPr>
          <p:nvPr>
            <p:ph idx="1"/>
          </p:nvPr>
        </p:nvSpPr>
        <p:spPr/>
        <p:txBody>
          <a:bodyPr/>
          <a:lstStyle/>
          <a:p>
            <a:r>
              <a:rPr lang="vi-VN" sz="2000" dirty="0"/>
              <a:t>Để chắc chắn rằng khả năng truy xuất context của LightRAG vượt trội so với RAG, hãy phân tích 1833 câu không có evidence và LightRAG không truy xuất được context, thì context mà RAG cung cấp có thật sự tốt không.</a:t>
            </a:r>
          </a:p>
          <a:p>
            <a:endParaRPr lang="vi-VN" sz="2000" dirty="0"/>
          </a:p>
        </p:txBody>
      </p:sp>
    </p:spTree>
    <p:extLst>
      <p:ext uri="{BB962C8B-B14F-4D97-AF65-F5344CB8AC3E}">
        <p14:creationId xmlns:p14="http://schemas.microsoft.com/office/powerpoint/2010/main" val="26080805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1902B-92A8-B9DD-10AF-2CA9BC22F7C6}"/>
              </a:ext>
            </a:extLst>
          </p:cNvPr>
          <p:cNvSpPr>
            <a:spLocks noGrp="1"/>
          </p:cNvSpPr>
          <p:nvPr>
            <p:ph type="title"/>
          </p:nvPr>
        </p:nvSpPr>
        <p:spPr/>
        <p:txBody>
          <a:bodyPr/>
          <a:lstStyle/>
          <a:p>
            <a:r>
              <a:rPr lang="en-US" dirty="0"/>
              <a:t>Context Analysis</a:t>
            </a:r>
            <a:endParaRPr lang="vi-VN" dirty="0"/>
          </a:p>
        </p:txBody>
      </p:sp>
      <p:sp>
        <p:nvSpPr>
          <p:cNvPr id="3" name="Content Placeholder 2">
            <a:extLst>
              <a:ext uri="{FF2B5EF4-FFF2-40B4-BE49-F238E27FC236}">
                <a16:creationId xmlns:a16="http://schemas.microsoft.com/office/drawing/2014/main" id="{C0D3BB55-0020-45BB-A13E-D8DEC428B73C}"/>
              </a:ext>
            </a:extLst>
          </p:cNvPr>
          <p:cNvSpPr>
            <a:spLocks noGrp="1"/>
          </p:cNvSpPr>
          <p:nvPr>
            <p:ph idx="1"/>
          </p:nvPr>
        </p:nvSpPr>
        <p:spPr/>
        <p:txBody>
          <a:bodyPr/>
          <a:lstStyle/>
          <a:p>
            <a:pPr marL="0" indent="0">
              <a:buNone/>
            </a:pPr>
            <a:r>
              <a:rPr lang="vi-VN" sz="2000" dirty="0"/>
              <a:t>Phân tích 1833 câu không có evidence và LightRAG không truy xuất được context</a:t>
            </a:r>
          </a:p>
        </p:txBody>
      </p:sp>
      <p:pic>
        <p:nvPicPr>
          <p:cNvPr id="1026" name="Picture 2">
            <a:extLst>
              <a:ext uri="{FF2B5EF4-FFF2-40B4-BE49-F238E27FC236}">
                <a16:creationId xmlns:a16="http://schemas.microsoft.com/office/drawing/2014/main" id="{C46034B2-8187-3602-616C-AF5DCE7311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875" y="2190750"/>
            <a:ext cx="6572250" cy="466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7454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1902B-92A8-B9DD-10AF-2CA9BC22F7C6}"/>
              </a:ext>
            </a:extLst>
          </p:cNvPr>
          <p:cNvSpPr>
            <a:spLocks noGrp="1"/>
          </p:cNvSpPr>
          <p:nvPr>
            <p:ph type="title"/>
          </p:nvPr>
        </p:nvSpPr>
        <p:spPr/>
        <p:txBody>
          <a:bodyPr/>
          <a:lstStyle/>
          <a:p>
            <a:r>
              <a:rPr lang="en-US" dirty="0"/>
              <a:t>Context Analysis</a:t>
            </a:r>
            <a:endParaRPr lang="vi-VN" dirty="0"/>
          </a:p>
        </p:txBody>
      </p:sp>
      <p:sp>
        <p:nvSpPr>
          <p:cNvPr id="3" name="Content Placeholder 2">
            <a:extLst>
              <a:ext uri="{FF2B5EF4-FFF2-40B4-BE49-F238E27FC236}">
                <a16:creationId xmlns:a16="http://schemas.microsoft.com/office/drawing/2014/main" id="{C0D3BB55-0020-45BB-A13E-D8DEC428B73C}"/>
              </a:ext>
            </a:extLst>
          </p:cNvPr>
          <p:cNvSpPr>
            <a:spLocks noGrp="1"/>
          </p:cNvSpPr>
          <p:nvPr>
            <p:ph idx="1"/>
          </p:nvPr>
        </p:nvSpPr>
        <p:spPr/>
        <p:txBody>
          <a:bodyPr/>
          <a:lstStyle/>
          <a:p>
            <a:pPr marL="0" indent="0">
              <a:buNone/>
            </a:pPr>
            <a:r>
              <a:rPr lang="vi-VN" sz="2000" dirty="0"/>
              <a:t>Phân tích 1833 câu không có evidence và LightRAG không truy xuất được context</a:t>
            </a:r>
          </a:p>
        </p:txBody>
      </p:sp>
      <p:pic>
        <p:nvPicPr>
          <p:cNvPr id="2050" name="Picture 2">
            <a:extLst>
              <a:ext uri="{FF2B5EF4-FFF2-40B4-BE49-F238E27FC236}">
                <a16:creationId xmlns:a16="http://schemas.microsoft.com/office/drawing/2014/main" id="{986172C5-66F4-8733-1EF4-E355B70010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875" y="2190750"/>
            <a:ext cx="6572250" cy="466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23688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1902B-92A8-B9DD-10AF-2CA9BC22F7C6}"/>
              </a:ext>
            </a:extLst>
          </p:cNvPr>
          <p:cNvSpPr>
            <a:spLocks noGrp="1"/>
          </p:cNvSpPr>
          <p:nvPr>
            <p:ph type="title"/>
          </p:nvPr>
        </p:nvSpPr>
        <p:spPr/>
        <p:txBody>
          <a:bodyPr/>
          <a:lstStyle/>
          <a:p>
            <a:r>
              <a:rPr lang="en-US" dirty="0"/>
              <a:t>Context Analysis</a:t>
            </a:r>
            <a:endParaRPr lang="vi-VN" dirty="0"/>
          </a:p>
        </p:txBody>
      </p:sp>
      <p:sp>
        <p:nvSpPr>
          <p:cNvPr id="3" name="Content Placeholder 2">
            <a:extLst>
              <a:ext uri="{FF2B5EF4-FFF2-40B4-BE49-F238E27FC236}">
                <a16:creationId xmlns:a16="http://schemas.microsoft.com/office/drawing/2014/main" id="{C0D3BB55-0020-45BB-A13E-D8DEC428B73C}"/>
              </a:ext>
            </a:extLst>
          </p:cNvPr>
          <p:cNvSpPr>
            <a:spLocks noGrp="1"/>
          </p:cNvSpPr>
          <p:nvPr>
            <p:ph idx="1"/>
          </p:nvPr>
        </p:nvSpPr>
        <p:spPr/>
        <p:txBody>
          <a:bodyPr/>
          <a:lstStyle/>
          <a:p>
            <a:pPr marL="0" indent="0">
              <a:buNone/>
            </a:pPr>
            <a:r>
              <a:rPr lang="vi-VN" sz="2000" dirty="0"/>
              <a:t>Phân tích 1833 câu không có evidence và LightRAG không truy xuất được context</a:t>
            </a:r>
          </a:p>
        </p:txBody>
      </p:sp>
      <p:pic>
        <p:nvPicPr>
          <p:cNvPr id="3074" name="Picture 2">
            <a:extLst>
              <a:ext uri="{FF2B5EF4-FFF2-40B4-BE49-F238E27FC236}">
                <a16:creationId xmlns:a16="http://schemas.microsoft.com/office/drawing/2014/main" id="{EBE9BE3E-FB6C-FB8E-A04D-734C8BFD95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875" y="2190750"/>
            <a:ext cx="6572250" cy="466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23019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1902B-92A8-B9DD-10AF-2CA9BC22F7C6}"/>
              </a:ext>
            </a:extLst>
          </p:cNvPr>
          <p:cNvSpPr>
            <a:spLocks noGrp="1"/>
          </p:cNvSpPr>
          <p:nvPr>
            <p:ph type="title"/>
          </p:nvPr>
        </p:nvSpPr>
        <p:spPr/>
        <p:txBody>
          <a:bodyPr/>
          <a:lstStyle/>
          <a:p>
            <a:r>
              <a:rPr lang="en-US" dirty="0"/>
              <a:t>Context Analysis</a:t>
            </a:r>
            <a:endParaRPr lang="vi-VN" dirty="0"/>
          </a:p>
        </p:txBody>
      </p:sp>
      <p:sp>
        <p:nvSpPr>
          <p:cNvPr id="3" name="Content Placeholder 2">
            <a:extLst>
              <a:ext uri="{FF2B5EF4-FFF2-40B4-BE49-F238E27FC236}">
                <a16:creationId xmlns:a16="http://schemas.microsoft.com/office/drawing/2014/main" id="{C0D3BB55-0020-45BB-A13E-D8DEC428B73C}"/>
              </a:ext>
            </a:extLst>
          </p:cNvPr>
          <p:cNvSpPr>
            <a:spLocks noGrp="1"/>
          </p:cNvSpPr>
          <p:nvPr>
            <p:ph idx="1"/>
          </p:nvPr>
        </p:nvSpPr>
        <p:spPr/>
        <p:txBody>
          <a:bodyPr>
            <a:normAutofit/>
          </a:bodyPr>
          <a:lstStyle/>
          <a:p>
            <a:pPr marL="0" indent="0">
              <a:buNone/>
            </a:pPr>
            <a:r>
              <a:rPr lang="vi-VN" sz="2400" dirty="0"/>
              <a:t>Phân tích 1833 câu không có evidence và LightRAG không truy xuất được context</a:t>
            </a:r>
          </a:p>
          <a:p>
            <a:pPr lvl="1"/>
            <a:r>
              <a:rPr lang="vi-VN" dirty="0"/>
              <a:t>LightRAG không truy xuất được context -&gt; tự trả lời bằng kiến thức nền nếu đủ tự tin, hoặc trả lời là không biết</a:t>
            </a:r>
          </a:p>
          <a:p>
            <a:pPr lvl="1"/>
            <a:r>
              <a:rPr lang="vi-VN" dirty="0"/>
              <a:t>RAG vẫn sử dụng top-k để truy xuất context, accuracy thấp hơn so với LightRAG</a:t>
            </a:r>
          </a:p>
          <a:p>
            <a:pPr lvl="1">
              <a:buFont typeface="Wingdings" panose="05000000000000000000" pitchFamily="2" charset="2"/>
              <a:buChar char="è"/>
            </a:pPr>
            <a:r>
              <a:rPr lang="vi-VN" dirty="0"/>
              <a:t> RAG chỉ truy xuất nhiễu, khiến LLM dựa vào tri thức sai lệch để trả lời</a:t>
            </a:r>
          </a:p>
          <a:p>
            <a:pPr marL="457200" lvl="1" indent="0">
              <a:buNone/>
            </a:pPr>
            <a:endParaRPr lang="vi-VN" dirty="0"/>
          </a:p>
          <a:p>
            <a:pPr lvl="1"/>
            <a:endParaRPr lang="vi-VN" dirty="0"/>
          </a:p>
        </p:txBody>
      </p:sp>
    </p:spTree>
    <p:extLst>
      <p:ext uri="{BB962C8B-B14F-4D97-AF65-F5344CB8AC3E}">
        <p14:creationId xmlns:p14="http://schemas.microsoft.com/office/powerpoint/2010/main" val="149336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1902B-92A8-B9DD-10AF-2CA9BC22F7C6}"/>
              </a:ext>
            </a:extLst>
          </p:cNvPr>
          <p:cNvSpPr>
            <a:spLocks noGrp="1"/>
          </p:cNvSpPr>
          <p:nvPr>
            <p:ph type="title"/>
          </p:nvPr>
        </p:nvSpPr>
        <p:spPr/>
        <p:txBody>
          <a:bodyPr/>
          <a:lstStyle/>
          <a:p>
            <a:r>
              <a:rPr lang="en-US" dirty="0"/>
              <a:t>Context Analysis</a:t>
            </a:r>
            <a:endParaRPr lang="vi-VN" dirty="0"/>
          </a:p>
        </p:txBody>
      </p:sp>
      <p:sp>
        <p:nvSpPr>
          <p:cNvPr id="3" name="Content Placeholder 2">
            <a:extLst>
              <a:ext uri="{FF2B5EF4-FFF2-40B4-BE49-F238E27FC236}">
                <a16:creationId xmlns:a16="http://schemas.microsoft.com/office/drawing/2014/main" id="{C0D3BB55-0020-45BB-A13E-D8DEC428B73C}"/>
              </a:ext>
            </a:extLst>
          </p:cNvPr>
          <p:cNvSpPr>
            <a:spLocks noGrp="1"/>
          </p:cNvSpPr>
          <p:nvPr>
            <p:ph idx="1"/>
          </p:nvPr>
        </p:nvSpPr>
        <p:spPr/>
        <p:txBody>
          <a:bodyPr>
            <a:noAutofit/>
          </a:bodyPr>
          <a:lstStyle/>
          <a:p>
            <a:pPr marL="0" indent="0">
              <a:buNone/>
            </a:pPr>
            <a:r>
              <a:rPr lang="vi-VN" sz="2000" dirty="0"/>
              <a:t>Kết luận:</a:t>
            </a:r>
          </a:p>
          <a:p>
            <a:pPr lvl="1"/>
            <a:r>
              <a:rPr lang="vi-VN" sz="2000" dirty="0"/>
              <a:t>RAG truy xuất context và lấy hết tất cả mọi thứ có vẻ liên quan</a:t>
            </a:r>
          </a:p>
          <a:p>
            <a:pPr lvl="1"/>
            <a:r>
              <a:rPr lang="vi-VN" sz="2000" dirty="0"/>
              <a:t>LightRAG truy xuất các phần trọng tâm, nếu không có thì trả về context rỗng</a:t>
            </a:r>
          </a:p>
          <a:p>
            <a:pPr lvl="1">
              <a:buFont typeface="Wingdings" panose="05000000000000000000" pitchFamily="2" charset="2"/>
              <a:buChar char="è"/>
            </a:pPr>
            <a:r>
              <a:rPr lang="vi-VN" sz="2000" dirty="0"/>
              <a:t>đối với tất cả các câu hỏi không tồn tại evidence:</a:t>
            </a:r>
          </a:p>
          <a:p>
            <a:pPr lvl="2">
              <a:buFont typeface="Wingdings" panose="05000000000000000000" pitchFamily="2" charset="2"/>
              <a:buChar char="è"/>
            </a:pPr>
            <a:r>
              <a:rPr lang="vi-VN" dirty="0"/>
              <a:t>RAG vẫn truy xuất được toàn bộ context -&gt; đa phần là nhiễu -&gt; câu trả lời bị sai lệch</a:t>
            </a:r>
          </a:p>
          <a:p>
            <a:pPr lvl="2">
              <a:buFont typeface="Wingdings" panose="05000000000000000000" pitchFamily="2" charset="2"/>
              <a:buChar char="è"/>
            </a:pPr>
            <a:r>
              <a:rPr lang="vi-VN" dirty="0"/>
              <a:t>LightRAG phần lớn không truy xuất được context (vẫn có lúc truy xuất được context liên quan) -&gt; context được cung cấp trọng tâm hơn -&gt; câu trả lời chắc chắn hơn</a:t>
            </a:r>
          </a:p>
          <a:p>
            <a:pPr lvl="3">
              <a:buFont typeface="Wingdings" panose="05000000000000000000" pitchFamily="2" charset="2"/>
              <a:buChar char="è"/>
            </a:pPr>
            <a:r>
              <a:rPr lang="vi-VN" sz="2000" dirty="0"/>
              <a:t>Nếu không có context, LightRAG sẽ sử dụng tri thức sẵn có để trả lời, nếu không chắc chắn thì sẽ trả về không biết -&gt; tin cậy hơn</a:t>
            </a:r>
          </a:p>
          <a:p>
            <a:pPr lvl="1">
              <a:buFont typeface="Wingdings" panose="05000000000000000000" pitchFamily="2" charset="2"/>
              <a:buChar char="è"/>
            </a:pPr>
            <a:r>
              <a:rPr lang="vi-VN" sz="2000" dirty="0"/>
              <a:t>RAG có coverage với contextual summerize cao hơn khoảng gấp đôi so với LightRAG là do khả năng truy xuất “vơ vét” của RAG tạo ra câu trả lời lan rộng và dài hơn hẳn so với LightRAG, nhưng tất cả các chỉ số còn lại đều thấp hơn LightRAG -&gt; có thể chỉ ra context RAG truy xuất thiếu trọng tâm, nhiều nhiễu</a:t>
            </a:r>
          </a:p>
        </p:txBody>
      </p:sp>
    </p:spTree>
    <p:extLst>
      <p:ext uri="{BB962C8B-B14F-4D97-AF65-F5344CB8AC3E}">
        <p14:creationId xmlns:p14="http://schemas.microsoft.com/office/powerpoint/2010/main" val="8571060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1902B-92A8-B9DD-10AF-2CA9BC22F7C6}"/>
              </a:ext>
            </a:extLst>
          </p:cNvPr>
          <p:cNvSpPr>
            <a:spLocks noGrp="1"/>
          </p:cNvSpPr>
          <p:nvPr>
            <p:ph type="title"/>
          </p:nvPr>
        </p:nvSpPr>
        <p:spPr/>
        <p:txBody>
          <a:bodyPr/>
          <a:lstStyle/>
          <a:p>
            <a:r>
              <a:rPr lang="en-US" dirty="0"/>
              <a:t>Context Analysis – Limit output token</a:t>
            </a:r>
            <a:endParaRPr lang="vi-VN" dirty="0"/>
          </a:p>
        </p:txBody>
      </p:sp>
      <p:sp>
        <p:nvSpPr>
          <p:cNvPr id="3" name="Content Placeholder 2">
            <a:extLst>
              <a:ext uri="{FF2B5EF4-FFF2-40B4-BE49-F238E27FC236}">
                <a16:creationId xmlns:a16="http://schemas.microsoft.com/office/drawing/2014/main" id="{C0D3BB55-0020-45BB-A13E-D8DEC428B73C}"/>
              </a:ext>
            </a:extLst>
          </p:cNvPr>
          <p:cNvSpPr>
            <a:spLocks noGrp="1"/>
          </p:cNvSpPr>
          <p:nvPr>
            <p:ph idx="1"/>
          </p:nvPr>
        </p:nvSpPr>
        <p:spPr/>
        <p:txBody>
          <a:bodyPr>
            <a:noAutofit/>
          </a:bodyPr>
          <a:lstStyle/>
          <a:p>
            <a:r>
              <a:rPr lang="vi-VN" sz="2200" dirty="0">
                <a:solidFill>
                  <a:srgbClr val="000000"/>
                </a:solidFill>
                <a:ea typeface="Montserrat"/>
                <a:cs typeface="Montserrat"/>
                <a:sym typeface="Montserrat"/>
              </a:rPr>
              <a:t>Kiểm tra mức độ ảnh hưởng của độ dài output: 1833 câu</a:t>
            </a:r>
            <a:endParaRPr lang="en-US" sz="2200" dirty="0">
              <a:solidFill>
                <a:srgbClr val="000000"/>
              </a:solidFill>
              <a:ea typeface="Montserrat"/>
              <a:cs typeface="Montserrat"/>
              <a:sym typeface="Montserrat"/>
            </a:endParaRPr>
          </a:p>
          <a:p>
            <a:pPr lvl="1"/>
            <a:r>
              <a:rPr lang="en-US" sz="1800" dirty="0">
                <a:solidFill>
                  <a:srgbClr val="000000"/>
                </a:solidFill>
                <a:ea typeface="Montserrat"/>
                <a:cs typeface="Montserrat"/>
                <a:sym typeface="Montserrat"/>
              </a:rPr>
              <a:t>LLM soft limit token output: 480</a:t>
            </a:r>
          </a:p>
          <a:p>
            <a:pPr lvl="1"/>
            <a:r>
              <a:rPr lang="en-US" sz="1800" dirty="0">
                <a:solidFill>
                  <a:srgbClr val="000000"/>
                </a:solidFill>
                <a:ea typeface="Montserrat"/>
                <a:cs typeface="Montserrat"/>
                <a:sym typeface="Montserrat"/>
              </a:rPr>
              <a:t>LLM hard limit token output: 512</a:t>
            </a:r>
          </a:p>
          <a:p>
            <a:pPr lvl="1"/>
            <a:r>
              <a:rPr lang="en-US" sz="1800" dirty="0">
                <a:solidFill>
                  <a:srgbClr val="000000"/>
                </a:solidFill>
                <a:ea typeface="Montserrat"/>
                <a:cs typeface="Montserrat"/>
                <a:sym typeface="Montserrat"/>
              </a:rPr>
              <a:t>So </a:t>
            </a:r>
            <a:r>
              <a:rPr lang="vi-VN" sz="1800" dirty="0">
                <a:solidFill>
                  <a:srgbClr val="000000"/>
                </a:solidFill>
                <a:ea typeface="Montserrat"/>
                <a:cs typeface="Montserrat"/>
                <a:sym typeface="Montserrat"/>
              </a:rPr>
              <a:t>sánh thêm với llama-index RAG</a:t>
            </a:r>
            <a:endParaRPr lang="en-US" sz="1800" dirty="0">
              <a:solidFill>
                <a:srgbClr val="000000"/>
              </a:solidFill>
              <a:ea typeface="Montserrat"/>
              <a:cs typeface="Montserrat"/>
              <a:sym typeface="Montserrat"/>
            </a:endParaRPr>
          </a:p>
          <a:p>
            <a:pPr marL="0" indent="0">
              <a:buNone/>
            </a:pPr>
            <a:endParaRPr lang="vi-VN" sz="2000" dirty="0"/>
          </a:p>
        </p:txBody>
      </p:sp>
    </p:spTree>
    <p:extLst>
      <p:ext uri="{BB962C8B-B14F-4D97-AF65-F5344CB8AC3E}">
        <p14:creationId xmlns:p14="http://schemas.microsoft.com/office/powerpoint/2010/main" val="20236045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1902B-92A8-B9DD-10AF-2CA9BC22F7C6}"/>
              </a:ext>
            </a:extLst>
          </p:cNvPr>
          <p:cNvSpPr>
            <a:spLocks noGrp="1"/>
          </p:cNvSpPr>
          <p:nvPr>
            <p:ph type="title"/>
          </p:nvPr>
        </p:nvSpPr>
        <p:spPr/>
        <p:txBody>
          <a:bodyPr/>
          <a:lstStyle/>
          <a:p>
            <a:r>
              <a:rPr lang="en-US" dirty="0"/>
              <a:t>Context Analysis – Limit output token</a:t>
            </a:r>
            <a:endParaRPr lang="vi-VN" dirty="0"/>
          </a:p>
        </p:txBody>
      </p:sp>
      <p:sp>
        <p:nvSpPr>
          <p:cNvPr id="3" name="Content Placeholder 2">
            <a:extLst>
              <a:ext uri="{FF2B5EF4-FFF2-40B4-BE49-F238E27FC236}">
                <a16:creationId xmlns:a16="http://schemas.microsoft.com/office/drawing/2014/main" id="{C0D3BB55-0020-45BB-A13E-D8DEC428B73C}"/>
              </a:ext>
            </a:extLst>
          </p:cNvPr>
          <p:cNvSpPr>
            <a:spLocks noGrp="1"/>
          </p:cNvSpPr>
          <p:nvPr>
            <p:ph idx="1"/>
          </p:nvPr>
        </p:nvSpPr>
        <p:spPr/>
        <p:txBody>
          <a:bodyPr>
            <a:noAutofit/>
          </a:bodyPr>
          <a:lstStyle/>
          <a:p>
            <a:r>
              <a:rPr lang="vi-VN" sz="2200" dirty="0">
                <a:solidFill>
                  <a:srgbClr val="000000"/>
                </a:solidFill>
                <a:ea typeface="Montserrat"/>
                <a:cs typeface="Montserrat"/>
                <a:sym typeface="Montserrat"/>
              </a:rPr>
              <a:t>Kiểm tra mức độ ảnh hưởng của độ dài output:</a:t>
            </a:r>
            <a:endParaRPr lang="en-US" sz="2200" dirty="0">
              <a:solidFill>
                <a:srgbClr val="000000"/>
              </a:solidFill>
              <a:ea typeface="Montserrat"/>
              <a:cs typeface="Montserrat"/>
              <a:sym typeface="Montserrat"/>
            </a:endParaRPr>
          </a:p>
          <a:p>
            <a:pPr marL="0" indent="0">
              <a:buNone/>
            </a:pPr>
            <a:endParaRPr lang="vi-VN" sz="2000" dirty="0"/>
          </a:p>
        </p:txBody>
      </p:sp>
      <p:pic>
        <p:nvPicPr>
          <p:cNvPr id="1026" name="Picture 2">
            <a:extLst>
              <a:ext uri="{FF2B5EF4-FFF2-40B4-BE49-F238E27FC236}">
                <a16:creationId xmlns:a16="http://schemas.microsoft.com/office/drawing/2014/main" id="{DF298856-2592-F8C6-0B23-8A43DEF1E2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57463"/>
            <a:ext cx="12192000" cy="4300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26349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1902B-92A8-B9DD-10AF-2CA9BC22F7C6}"/>
              </a:ext>
            </a:extLst>
          </p:cNvPr>
          <p:cNvSpPr>
            <a:spLocks noGrp="1"/>
          </p:cNvSpPr>
          <p:nvPr>
            <p:ph type="title"/>
          </p:nvPr>
        </p:nvSpPr>
        <p:spPr/>
        <p:txBody>
          <a:bodyPr/>
          <a:lstStyle/>
          <a:p>
            <a:r>
              <a:rPr lang="en-US" dirty="0"/>
              <a:t>Context Analysis – Limit output token</a:t>
            </a:r>
            <a:endParaRPr lang="vi-VN" dirty="0"/>
          </a:p>
        </p:txBody>
      </p:sp>
      <p:sp>
        <p:nvSpPr>
          <p:cNvPr id="3" name="Content Placeholder 2">
            <a:extLst>
              <a:ext uri="{FF2B5EF4-FFF2-40B4-BE49-F238E27FC236}">
                <a16:creationId xmlns:a16="http://schemas.microsoft.com/office/drawing/2014/main" id="{C0D3BB55-0020-45BB-A13E-D8DEC428B73C}"/>
              </a:ext>
            </a:extLst>
          </p:cNvPr>
          <p:cNvSpPr>
            <a:spLocks noGrp="1"/>
          </p:cNvSpPr>
          <p:nvPr>
            <p:ph idx="1"/>
          </p:nvPr>
        </p:nvSpPr>
        <p:spPr/>
        <p:txBody>
          <a:bodyPr>
            <a:noAutofit/>
          </a:bodyPr>
          <a:lstStyle/>
          <a:p>
            <a:r>
              <a:rPr lang="vi-VN" sz="2200" dirty="0">
                <a:solidFill>
                  <a:srgbClr val="000000"/>
                </a:solidFill>
                <a:ea typeface="Montserrat"/>
                <a:cs typeface="Montserrat"/>
                <a:sym typeface="Montserrat"/>
              </a:rPr>
              <a:t>Kiểm tra mức độ ảnh hưởng của độ dài output:</a:t>
            </a:r>
            <a:endParaRPr lang="en-US" sz="2200" dirty="0">
              <a:solidFill>
                <a:srgbClr val="000000"/>
              </a:solidFill>
              <a:ea typeface="Montserrat"/>
              <a:cs typeface="Montserrat"/>
              <a:sym typeface="Montserrat"/>
            </a:endParaRPr>
          </a:p>
          <a:p>
            <a:pPr marL="0" indent="0">
              <a:buNone/>
            </a:pPr>
            <a:endParaRPr lang="vi-VN" sz="2000" dirty="0"/>
          </a:p>
        </p:txBody>
      </p:sp>
      <p:pic>
        <p:nvPicPr>
          <p:cNvPr id="2050" name="Picture 2">
            <a:extLst>
              <a:ext uri="{FF2B5EF4-FFF2-40B4-BE49-F238E27FC236}">
                <a16:creationId xmlns:a16="http://schemas.microsoft.com/office/drawing/2014/main" id="{05025D2A-856D-A9AF-E168-E727715691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57463"/>
            <a:ext cx="12192000" cy="4300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07774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1902B-92A8-B9DD-10AF-2CA9BC22F7C6}"/>
              </a:ext>
            </a:extLst>
          </p:cNvPr>
          <p:cNvSpPr>
            <a:spLocks noGrp="1"/>
          </p:cNvSpPr>
          <p:nvPr>
            <p:ph type="title"/>
          </p:nvPr>
        </p:nvSpPr>
        <p:spPr/>
        <p:txBody>
          <a:bodyPr/>
          <a:lstStyle/>
          <a:p>
            <a:r>
              <a:rPr lang="en-US" dirty="0"/>
              <a:t>Context Analysis – Limit output token</a:t>
            </a:r>
            <a:endParaRPr lang="vi-VN" dirty="0"/>
          </a:p>
        </p:txBody>
      </p:sp>
      <p:sp>
        <p:nvSpPr>
          <p:cNvPr id="3" name="Content Placeholder 2">
            <a:extLst>
              <a:ext uri="{FF2B5EF4-FFF2-40B4-BE49-F238E27FC236}">
                <a16:creationId xmlns:a16="http://schemas.microsoft.com/office/drawing/2014/main" id="{C0D3BB55-0020-45BB-A13E-D8DEC428B73C}"/>
              </a:ext>
            </a:extLst>
          </p:cNvPr>
          <p:cNvSpPr>
            <a:spLocks noGrp="1"/>
          </p:cNvSpPr>
          <p:nvPr>
            <p:ph idx="1"/>
          </p:nvPr>
        </p:nvSpPr>
        <p:spPr/>
        <p:txBody>
          <a:bodyPr>
            <a:noAutofit/>
          </a:bodyPr>
          <a:lstStyle/>
          <a:p>
            <a:r>
              <a:rPr lang="vi-VN" sz="2200" dirty="0">
                <a:solidFill>
                  <a:srgbClr val="000000"/>
                </a:solidFill>
                <a:ea typeface="Montserrat"/>
                <a:cs typeface="Montserrat"/>
                <a:sym typeface="Montserrat"/>
              </a:rPr>
              <a:t>Kiểm tra mức độ ảnh hưởng của độ dài output:</a:t>
            </a:r>
            <a:endParaRPr lang="en-US" sz="2200" dirty="0">
              <a:solidFill>
                <a:srgbClr val="000000"/>
              </a:solidFill>
              <a:ea typeface="Montserrat"/>
              <a:cs typeface="Montserrat"/>
              <a:sym typeface="Montserrat"/>
            </a:endParaRPr>
          </a:p>
          <a:p>
            <a:pPr marL="0" indent="0">
              <a:buNone/>
            </a:pPr>
            <a:endParaRPr lang="vi-VN" sz="2000" dirty="0"/>
          </a:p>
        </p:txBody>
      </p:sp>
      <p:pic>
        <p:nvPicPr>
          <p:cNvPr id="3074" name="Picture 2">
            <a:extLst>
              <a:ext uri="{FF2B5EF4-FFF2-40B4-BE49-F238E27FC236}">
                <a16:creationId xmlns:a16="http://schemas.microsoft.com/office/drawing/2014/main" id="{4B2D4CBE-8F28-C570-471F-0D551F0FAB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57463"/>
            <a:ext cx="12192000" cy="4300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85034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1902B-92A8-B9DD-10AF-2CA9BC22F7C6}"/>
              </a:ext>
            </a:extLst>
          </p:cNvPr>
          <p:cNvSpPr>
            <a:spLocks noGrp="1"/>
          </p:cNvSpPr>
          <p:nvPr>
            <p:ph type="title"/>
          </p:nvPr>
        </p:nvSpPr>
        <p:spPr/>
        <p:txBody>
          <a:bodyPr/>
          <a:lstStyle/>
          <a:p>
            <a:r>
              <a:rPr lang="en-US" dirty="0"/>
              <a:t>Context Analysis – Limit output token</a:t>
            </a:r>
            <a:endParaRPr lang="vi-VN" dirty="0"/>
          </a:p>
        </p:txBody>
      </p:sp>
      <p:sp>
        <p:nvSpPr>
          <p:cNvPr id="3" name="Content Placeholder 2">
            <a:extLst>
              <a:ext uri="{FF2B5EF4-FFF2-40B4-BE49-F238E27FC236}">
                <a16:creationId xmlns:a16="http://schemas.microsoft.com/office/drawing/2014/main" id="{C0D3BB55-0020-45BB-A13E-D8DEC428B73C}"/>
              </a:ext>
            </a:extLst>
          </p:cNvPr>
          <p:cNvSpPr>
            <a:spLocks noGrp="1"/>
          </p:cNvSpPr>
          <p:nvPr>
            <p:ph idx="1"/>
          </p:nvPr>
        </p:nvSpPr>
        <p:spPr/>
        <p:txBody>
          <a:bodyPr>
            <a:noAutofit/>
          </a:bodyPr>
          <a:lstStyle/>
          <a:p>
            <a:r>
              <a:rPr lang="vi-VN" sz="2200" dirty="0">
                <a:solidFill>
                  <a:srgbClr val="000000"/>
                </a:solidFill>
                <a:ea typeface="Montserrat"/>
                <a:cs typeface="Montserrat"/>
                <a:sym typeface="Montserrat"/>
              </a:rPr>
              <a:t>Kiểm tra mức độ ảnh hưởng của độ dài output:</a:t>
            </a:r>
          </a:p>
          <a:p>
            <a:pPr lvl="1"/>
            <a:r>
              <a:rPr lang="vi-VN" sz="1800" dirty="0">
                <a:solidFill>
                  <a:srgbClr val="000000"/>
                </a:solidFill>
                <a:ea typeface="Montserrat"/>
                <a:cs typeface="Montserrat"/>
                <a:sym typeface="Montserrat"/>
              </a:rPr>
              <a:t>Mặc dù coverage cho task contextual summerize của RAG giảm xuống nhiều, với LightRAG thì rất ít và gần như không có sự khác biệt lớn, nhưng coverage RAG vẫn cao hơn LightRAG</a:t>
            </a:r>
          </a:p>
          <a:p>
            <a:pPr marL="457200" lvl="1" indent="0">
              <a:buNone/>
            </a:pPr>
            <a:r>
              <a:rPr lang="vi-VN" sz="1800" dirty="0">
                <a:solidFill>
                  <a:srgbClr val="000000"/>
                </a:solidFill>
                <a:ea typeface="Montserrat"/>
                <a:cs typeface="Montserrat"/>
                <a:sym typeface="Montserrat"/>
              </a:rPr>
              <a:t>-&gt; độ dài token output có ảnh hưởng lớn đến chỉ số coverage của RAG, chứng minh rằng nó đang thực sự vơ vét thay vì trích xuất trọng tâm</a:t>
            </a:r>
            <a:endParaRPr lang="en-US" sz="1800" dirty="0">
              <a:solidFill>
                <a:srgbClr val="000000"/>
              </a:solidFill>
              <a:ea typeface="Montserrat"/>
              <a:cs typeface="Montserrat"/>
              <a:sym typeface="Montserrat"/>
            </a:endParaRPr>
          </a:p>
          <a:p>
            <a:pPr marL="0" indent="0">
              <a:buNone/>
            </a:pPr>
            <a:endParaRPr lang="vi-VN" sz="2000" dirty="0"/>
          </a:p>
        </p:txBody>
      </p:sp>
    </p:spTree>
    <p:extLst>
      <p:ext uri="{BB962C8B-B14F-4D97-AF65-F5344CB8AC3E}">
        <p14:creationId xmlns:p14="http://schemas.microsoft.com/office/powerpoint/2010/main" val="4741173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BD462-41AF-0A57-DC06-E69463B306ED}"/>
              </a:ext>
            </a:extLst>
          </p:cNvPr>
          <p:cNvSpPr>
            <a:spLocks noGrp="1"/>
          </p:cNvSpPr>
          <p:nvPr>
            <p:ph type="title"/>
          </p:nvPr>
        </p:nvSpPr>
        <p:spPr/>
        <p:txBody>
          <a:bodyPr/>
          <a:lstStyle/>
          <a:p>
            <a:r>
              <a:rPr lang="en-US" dirty="0"/>
              <a:t>So </a:t>
            </a:r>
            <a:r>
              <a:rPr lang="vi-VN" dirty="0"/>
              <a:t>sánh thêm Llama-Index RAG và GraphRAG</a:t>
            </a:r>
          </a:p>
        </p:txBody>
      </p:sp>
      <p:pic>
        <p:nvPicPr>
          <p:cNvPr id="1026" name="Picture 2">
            <a:extLst>
              <a:ext uri="{FF2B5EF4-FFF2-40B4-BE49-F238E27FC236}">
                <a16:creationId xmlns:a16="http://schemas.microsoft.com/office/drawing/2014/main" id="{17F9D985-2D72-7615-0CB1-F0DED32E02C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690688"/>
            <a:ext cx="10515600" cy="3709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96826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BD462-41AF-0A57-DC06-E69463B306ED}"/>
              </a:ext>
            </a:extLst>
          </p:cNvPr>
          <p:cNvSpPr>
            <a:spLocks noGrp="1"/>
          </p:cNvSpPr>
          <p:nvPr>
            <p:ph type="title"/>
          </p:nvPr>
        </p:nvSpPr>
        <p:spPr/>
        <p:txBody>
          <a:bodyPr/>
          <a:lstStyle/>
          <a:p>
            <a:r>
              <a:rPr lang="en-US" dirty="0"/>
              <a:t>So </a:t>
            </a:r>
            <a:r>
              <a:rPr lang="vi-VN" dirty="0"/>
              <a:t>sánh thêm Llama-Index RAG và GraphRAG</a:t>
            </a:r>
          </a:p>
        </p:txBody>
      </p:sp>
      <p:pic>
        <p:nvPicPr>
          <p:cNvPr id="2050" name="Picture 2">
            <a:extLst>
              <a:ext uri="{FF2B5EF4-FFF2-40B4-BE49-F238E27FC236}">
                <a16:creationId xmlns:a16="http://schemas.microsoft.com/office/drawing/2014/main" id="{A34BA20B-B268-58C4-F6D0-6A6D92F12E8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690688"/>
            <a:ext cx="10515600" cy="3709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68575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BD462-41AF-0A57-DC06-E69463B306ED}"/>
              </a:ext>
            </a:extLst>
          </p:cNvPr>
          <p:cNvSpPr>
            <a:spLocks noGrp="1"/>
          </p:cNvSpPr>
          <p:nvPr>
            <p:ph type="title"/>
          </p:nvPr>
        </p:nvSpPr>
        <p:spPr/>
        <p:txBody>
          <a:bodyPr/>
          <a:lstStyle/>
          <a:p>
            <a:r>
              <a:rPr lang="en-US" dirty="0"/>
              <a:t>So </a:t>
            </a:r>
            <a:r>
              <a:rPr lang="vi-VN" dirty="0"/>
              <a:t>sánh thêm Llama-Index RAG và GraphRAG</a:t>
            </a:r>
          </a:p>
        </p:txBody>
      </p:sp>
      <p:pic>
        <p:nvPicPr>
          <p:cNvPr id="3074" name="Picture 2">
            <a:extLst>
              <a:ext uri="{FF2B5EF4-FFF2-40B4-BE49-F238E27FC236}">
                <a16:creationId xmlns:a16="http://schemas.microsoft.com/office/drawing/2014/main" id="{CE2867F3-E304-8D28-7B4B-8EF4260C6B0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690688"/>
            <a:ext cx="10515600" cy="3709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86057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BD462-41AF-0A57-DC06-E69463B306ED}"/>
              </a:ext>
            </a:extLst>
          </p:cNvPr>
          <p:cNvSpPr>
            <a:spLocks noGrp="1"/>
          </p:cNvSpPr>
          <p:nvPr>
            <p:ph type="title"/>
          </p:nvPr>
        </p:nvSpPr>
        <p:spPr/>
        <p:txBody>
          <a:bodyPr/>
          <a:lstStyle/>
          <a:p>
            <a:r>
              <a:rPr lang="en-US" dirty="0"/>
              <a:t>So </a:t>
            </a:r>
            <a:r>
              <a:rPr lang="vi-VN" dirty="0"/>
              <a:t>sánh thêm Llama-Index RAG và GraphRAG</a:t>
            </a:r>
          </a:p>
        </p:txBody>
      </p:sp>
      <p:pic>
        <p:nvPicPr>
          <p:cNvPr id="4098" name="Picture 2">
            <a:extLst>
              <a:ext uri="{FF2B5EF4-FFF2-40B4-BE49-F238E27FC236}">
                <a16:creationId xmlns:a16="http://schemas.microsoft.com/office/drawing/2014/main" id="{61939AF1-9F72-7838-7841-269E775CE0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690688"/>
            <a:ext cx="10515600" cy="3709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40222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BD462-41AF-0A57-DC06-E69463B306ED}"/>
              </a:ext>
            </a:extLst>
          </p:cNvPr>
          <p:cNvSpPr>
            <a:spLocks noGrp="1"/>
          </p:cNvSpPr>
          <p:nvPr>
            <p:ph type="title"/>
          </p:nvPr>
        </p:nvSpPr>
        <p:spPr/>
        <p:txBody>
          <a:bodyPr/>
          <a:lstStyle/>
          <a:p>
            <a:r>
              <a:rPr lang="en-US" dirty="0"/>
              <a:t>So </a:t>
            </a:r>
            <a:r>
              <a:rPr lang="vi-VN" dirty="0"/>
              <a:t>sánh thêm Llama-Index RAG và GraphRAG</a:t>
            </a:r>
          </a:p>
        </p:txBody>
      </p:sp>
      <p:sp>
        <p:nvSpPr>
          <p:cNvPr id="3" name="Content Placeholder 2">
            <a:extLst>
              <a:ext uri="{FF2B5EF4-FFF2-40B4-BE49-F238E27FC236}">
                <a16:creationId xmlns:a16="http://schemas.microsoft.com/office/drawing/2014/main" id="{DB36D78C-1012-E389-9912-DDF641A68271}"/>
              </a:ext>
            </a:extLst>
          </p:cNvPr>
          <p:cNvSpPr>
            <a:spLocks noGrp="1"/>
          </p:cNvSpPr>
          <p:nvPr>
            <p:ph idx="1"/>
          </p:nvPr>
        </p:nvSpPr>
        <p:spPr/>
        <p:txBody>
          <a:bodyPr>
            <a:noAutofit/>
          </a:bodyPr>
          <a:lstStyle/>
          <a:p>
            <a:r>
              <a:rPr lang="vi-VN" sz="2000" dirty="0"/>
              <a:t>Llama-index gần như không trích xuất được thông tin gì có ích</a:t>
            </a:r>
          </a:p>
          <a:p>
            <a:r>
              <a:rPr lang="vi-VN" sz="2000" dirty="0"/>
              <a:t>Tại sao faithfulness lại cao ?</a:t>
            </a:r>
          </a:p>
          <a:p>
            <a:pPr lvl="1"/>
            <a:r>
              <a:rPr lang="vi-VN" sz="1800" dirty="0"/>
              <a:t>Vì context của nó trích xuất kém, gần như không gồm thông tin có ích hoặc nhiều nhiễu</a:t>
            </a:r>
          </a:p>
          <a:p>
            <a:pPr marL="457200" lvl="1" indent="0">
              <a:buNone/>
            </a:pPr>
            <a:r>
              <a:rPr lang="vi-VN" sz="1800" dirty="0"/>
              <a:t>-&gt; Prompt mặc định của llama-index không cho phép dựa vào prior knowledge, chỉ dựa context</a:t>
            </a:r>
          </a:p>
          <a:p>
            <a:pPr marL="457200" lvl="1" indent="0">
              <a:buNone/>
            </a:pPr>
            <a:r>
              <a:rPr lang="vi-VN" sz="1800" dirty="0"/>
              <a:t>-&gt; thường </a:t>
            </a:r>
            <a:r>
              <a:rPr lang="vi-VN" sz="2000" dirty="0"/>
              <a:t>xuyên trả lời là tôi không biết, hoặc tương tự như vậy -&gt; dẫn đến faithfulness cao</a:t>
            </a:r>
          </a:p>
          <a:p>
            <a:r>
              <a:rPr lang="vi-VN" sz="2000" dirty="0"/>
              <a:t>Tại sao llama-index lại thiếu hiệu quả ?</a:t>
            </a:r>
          </a:p>
          <a:p>
            <a:pPr lvl="1"/>
            <a:r>
              <a:rPr lang="vi-VN" sz="1800" dirty="0"/>
              <a:t>Mọi tham số đều để mặc định, bao gồm cả prompt</a:t>
            </a:r>
          </a:p>
          <a:p>
            <a:pPr lvl="1"/>
            <a:r>
              <a:rPr lang="en-US" sz="1800" dirty="0">
                <a:solidFill>
                  <a:srgbClr val="000000"/>
                </a:solidFill>
                <a:latin typeface="+mj-lt"/>
                <a:ea typeface="Montserrat"/>
                <a:cs typeface="Montserrat"/>
                <a:sym typeface="Montserrat"/>
              </a:rPr>
              <a:t>RAG </a:t>
            </a:r>
            <a:r>
              <a:rPr lang="vi-VN" sz="1800" dirty="0">
                <a:solidFill>
                  <a:srgbClr val="000000"/>
                </a:solidFill>
                <a:latin typeface="+mj-lt"/>
                <a:ea typeface="Montserrat"/>
                <a:cs typeface="Montserrat"/>
                <a:sym typeface="Montserrat"/>
              </a:rPr>
              <a:t>trước đó dùng topk = 5, trong khi llama-index để cố định là 2</a:t>
            </a:r>
            <a:endParaRPr lang="vi-VN" sz="1800" dirty="0"/>
          </a:p>
          <a:p>
            <a:pPr lvl="1"/>
            <a:r>
              <a:rPr lang="vi-VN" sz="1800" dirty="0"/>
              <a:t>model embedding của nó là BAAI/bge-small-en-v1.5 -&gt; kém hơn nhiều so với </a:t>
            </a:r>
            <a:r>
              <a:rPr lang="en-US" sz="1800" dirty="0">
                <a:solidFill>
                  <a:srgbClr val="000000"/>
                </a:solidFill>
                <a:latin typeface="+mj-lt"/>
                <a:ea typeface="Montserrat"/>
                <a:cs typeface="Montserrat"/>
                <a:sym typeface="Montserrat"/>
              </a:rPr>
              <a:t>BAAI/bge-large-en-v1.5</a:t>
            </a:r>
          </a:p>
          <a:p>
            <a:pPr marL="457200" lvl="1" indent="0">
              <a:buNone/>
            </a:pPr>
            <a:r>
              <a:rPr lang="en-US" sz="2000" dirty="0">
                <a:solidFill>
                  <a:srgbClr val="000000"/>
                </a:solidFill>
                <a:latin typeface="+mj-lt"/>
                <a:ea typeface="Montserrat"/>
                <a:cs typeface="Montserrat"/>
                <a:sym typeface="Montserrat"/>
              </a:rPr>
              <a:t>-&gt; </a:t>
            </a:r>
            <a:r>
              <a:rPr lang="vi-VN" sz="2000" dirty="0">
                <a:solidFill>
                  <a:srgbClr val="000000"/>
                </a:solidFill>
                <a:latin typeface="+mj-lt"/>
                <a:ea typeface="Montserrat"/>
                <a:cs typeface="Montserrat"/>
                <a:sym typeface="Montserrat"/>
              </a:rPr>
              <a:t> Chạy thẳng tham số mặc định chỉ phù hợp thử nghiệm nhanh</a:t>
            </a:r>
            <a:endParaRPr lang="en-US" sz="2000" dirty="0">
              <a:solidFill>
                <a:srgbClr val="000000"/>
              </a:solidFill>
              <a:latin typeface="+mj-lt"/>
              <a:ea typeface="Montserrat"/>
              <a:cs typeface="Montserrat"/>
              <a:sym typeface="Montserrat"/>
            </a:endParaRPr>
          </a:p>
          <a:p>
            <a:pPr marL="457200" lvl="1" indent="0">
              <a:buNone/>
            </a:pPr>
            <a:r>
              <a:rPr lang="vi-VN" sz="2000" dirty="0">
                <a:solidFill>
                  <a:srgbClr val="000000"/>
                </a:solidFill>
                <a:latin typeface="+mj-lt"/>
                <a:ea typeface="Montserrat"/>
                <a:cs typeface="Montserrat"/>
                <a:sym typeface="Montserrat"/>
              </a:rPr>
              <a:t>-&gt; Nếu muốn đạt hiệu suất cao, cần phải tìm hiểu, thử nghiệm để tinh chỉnh lại các tham số cũng như là prompt</a:t>
            </a:r>
            <a:endParaRPr lang="en-US" sz="2000" dirty="0">
              <a:solidFill>
                <a:srgbClr val="000000"/>
              </a:solidFill>
              <a:latin typeface="+mj-lt"/>
              <a:ea typeface="Montserrat"/>
              <a:cs typeface="Montserrat"/>
              <a:sym typeface="Montserrat"/>
            </a:endParaRPr>
          </a:p>
          <a:p>
            <a:pPr marL="457200" lvl="1" indent="0">
              <a:buNone/>
            </a:pPr>
            <a:endParaRPr lang="vi-VN" sz="2000" dirty="0"/>
          </a:p>
        </p:txBody>
      </p:sp>
    </p:spTree>
    <p:extLst>
      <p:ext uri="{BB962C8B-B14F-4D97-AF65-F5344CB8AC3E}">
        <p14:creationId xmlns:p14="http://schemas.microsoft.com/office/powerpoint/2010/main" val="22738570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35665</TotalTime>
  <Words>1954</Words>
  <Application>Microsoft Office PowerPoint</Application>
  <PresentationFormat>Widescreen</PresentationFormat>
  <Paragraphs>141</Paragraphs>
  <Slides>36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Aptos</vt:lpstr>
      <vt:lpstr>Aptos Display</vt:lpstr>
      <vt:lpstr>Arial</vt:lpstr>
      <vt:lpstr>Montserrat</vt:lpstr>
      <vt:lpstr>Noto Sans</vt:lpstr>
      <vt:lpstr>Times New Roman</vt:lpstr>
      <vt:lpstr>Wingdings</vt:lpstr>
      <vt:lpstr>Office Theme</vt:lpstr>
      <vt:lpstr>GraphRAG Evaluate LightRAG framework</vt:lpstr>
      <vt:lpstr>1. LightRAG</vt:lpstr>
      <vt:lpstr>1. LightRAG</vt:lpstr>
      <vt:lpstr>1. LightRAG</vt:lpstr>
      <vt:lpstr>2. Evaluation metrics</vt:lpstr>
      <vt:lpstr>2. Evaluation metrics</vt:lpstr>
      <vt:lpstr>3. Experiments</vt:lpstr>
      <vt:lpstr>3. Experiments</vt:lpstr>
      <vt:lpstr>3. Experiments</vt:lpstr>
      <vt:lpstr>3. Experiments</vt:lpstr>
      <vt:lpstr>3. Experiments</vt:lpstr>
      <vt:lpstr>3. Experiments</vt:lpstr>
      <vt:lpstr>3. Experiments</vt:lpstr>
      <vt:lpstr>3. Experiments</vt:lpstr>
      <vt:lpstr>Context Analysis</vt:lpstr>
      <vt:lpstr>Context Analysis</vt:lpstr>
      <vt:lpstr>Context Analysis</vt:lpstr>
      <vt:lpstr>Context Analysis</vt:lpstr>
      <vt:lpstr>Context Analysis</vt:lpstr>
      <vt:lpstr>Context Analysis</vt:lpstr>
      <vt:lpstr>Context Analysis</vt:lpstr>
      <vt:lpstr>Context Analysis</vt:lpstr>
      <vt:lpstr>Context Analysis</vt:lpstr>
      <vt:lpstr>Context Analysis</vt:lpstr>
      <vt:lpstr>Context Analysis</vt:lpstr>
      <vt:lpstr>Context Analysis</vt:lpstr>
      <vt:lpstr>Context Analysis – Limit output token</vt:lpstr>
      <vt:lpstr>Context Analysis – Limit output token</vt:lpstr>
      <vt:lpstr>Context Analysis – Limit output token</vt:lpstr>
      <vt:lpstr>Context Analysis – Limit output token</vt:lpstr>
      <vt:lpstr>Context Analysis – Limit output token</vt:lpstr>
      <vt:lpstr>So sánh thêm Llama-Index RAG và GraphRAG</vt:lpstr>
      <vt:lpstr>So sánh thêm Llama-Index RAG và GraphRAG</vt:lpstr>
      <vt:lpstr>So sánh thêm Llama-Index RAG và GraphRAG</vt:lpstr>
      <vt:lpstr>So sánh thêm Llama-Index RAG và GraphRAG</vt:lpstr>
      <vt:lpstr>So sánh thêm Llama-Index RAG và GraphRAG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Minh Phạm Văn</dc:creator>
  <cp:lastModifiedBy>Minh Phạm Văn</cp:lastModifiedBy>
  <cp:revision>4</cp:revision>
  <dcterms:created xsi:type="dcterms:W3CDTF">2025-09-09T15:15:16Z</dcterms:created>
  <dcterms:modified xsi:type="dcterms:W3CDTF">2025-10-15T15:21:13Z</dcterms:modified>
</cp:coreProperties>
</file>